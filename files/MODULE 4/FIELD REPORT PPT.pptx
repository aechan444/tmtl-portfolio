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63"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864"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865"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866"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7"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868"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808"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809"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810"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11" name="Footer Placeholder 4"/>
          <p:cNvSpPr>
            <a:spLocks noGrp="1"/>
          </p:cNvSpPr>
          <p:nvPr>
            <p:ph type="ftr" sz="quarter" idx="11"/>
          </p:nvPr>
        </p:nvSpPr>
        <p:spPr/>
        <p:txBody>
          <a:bodyPr/>
          <a:lstStyle/>
          <a:p>
            <a:endParaRPr lang="en-US"/>
          </a:p>
        </p:txBody>
      </p:sp>
      <p:sp>
        <p:nvSpPr>
          <p:cNvPr id="1048812"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822" name="Title 1"/>
          <p:cNvSpPr>
            <a:spLocks noGrp="1"/>
          </p:cNvSpPr>
          <p:nvPr>
            <p:ph type="title"/>
          </p:nvPr>
        </p:nvSpPr>
        <p:spPr/>
        <p:txBody>
          <a:bodyPr/>
          <a:lstStyle/>
          <a:p>
            <a:r>
              <a:rPr lang="en-US"/>
              <a:t>Click to edit Master title style</a:t>
            </a:r>
          </a:p>
        </p:txBody>
      </p:sp>
      <p:sp>
        <p:nvSpPr>
          <p:cNvPr id="104882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25" name="Footer Placeholder 4"/>
          <p:cNvSpPr>
            <a:spLocks noGrp="1"/>
          </p:cNvSpPr>
          <p:nvPr>
            <p:ph type="ftr" sz="quarter" idx="11"/>
          </p:nvPr>
        </p:nvSpPr>
        <p:spPr/>
        <p:txBody>
          <a:bodyPr/>
          <a:lstStyle/>
          <a:p>
            <a:endParaRPr lang="en-US"/>
          </a:p>
        </p:txBody>
      </p:sp>
      <p:sp>
        <p:nvSpPr>
          <p:cNvPr id="104882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838"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839"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40"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41" name="Footer Placeholder 4"/>
          <p:cNvSpPr>
            <a:spLocks noGrp="1"/>
          </p:cNvSpPr>
          <p:nvPr>
            <p:ph type="ftr" sz="quarter" idx="11"/>
          </p:nvPr>
        </p:nvSpPr>
        <p:spPr/>
        <p:txBody>
          <a:bodyPr/>
          <a:lstStyle/>
          <a:p>
            <a:endParaRPr lang="en-US"/>
          </a:p>
        </p:txBody>
      </p:sp>
      <p:sp>
        <p:nvSpPr>
          <p:cNvPr id="1048842"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843" name="Title 1"/>
          <p:cNvSpPr>
            <a:spLocks noGrp="1"/>
          </p:cNvSpPr>
          <p:nvPr>
            <p:ph type="title"/>
          </p:nvPr>
        </p:nvSpPr>
        <p:spPr/>
        <p:txBody>
          <a:bodyPr/>
          <a:lstStyle/>
          <a:p>
            <a:r>
              <a:rPr lang="en-US"/>
              <a:t>Click to edit Master title style</a:t>
            </a:r>
          </a:p>
        </p:txBody>
      </p:sp>
      <p:sp>
        <p:nvSpPr>
          <p:cNvPr id="1048844"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5"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6"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47" name="Footer Placeholder 5"/>
          <p:cNvSpPr>
            <a:spLocks noGrp="1"/>
          </p:cNvSpPr>
          <p:nvPr>
            <p:ph type="ftr" sz="quarter" idx="11"/>
          </p:nvPr>
        </p:nvSpPr>
        <p:spPr/>
        <p:txBody>
          <a:bodyPr/>
          <a:lstStyle/>
          <a:p>
            <a:endParaRPr lang="en-US"/>
          </a:p>
        </p:txBody>
      </p:sp>
      <p:sp>
        <p:nvSpPr>
          <p:cNvPr id="1048848"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849" name="Title 1"/>
          <p:cNvSpPr>
            <a:spLocks noGrp="1"/>
          </p:cNvSpPr>
          <p:nvPr>
            <p:ph type="title"/>
          </p:nvPr>
        </p:nvSpPr>
        <p:spPr/>
        <p:txBody>
          <a:bodyPr/>
          <a:lstStyle/>
          <a:p>
            <a:r>
              <a:rPr lang="en-US"/>
              <a:t>Click to edit Master title style</a:t>
            </a:r>
          </a:p>
        </p:txBody>
      </p:sp>
      <p:sp>
        <p:nvSpPr>
          <p:cNvPr id="1048850"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5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2"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5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4"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55" name="Footer Placeholder 7"/>
          <p:cNvSpPr>
            <a:spLocks noGrp="1"/>
          </p:cNvSpPr>
          <p:nvPr>
            <p:ph type="ftr" sz="quarter" idx="11"/>
          </p:nvPr>
        </p:nvSpPr>
        <p:spPr/>
        <p:txBody>
          <a:bodyPr/>
          <a:lstStyle/>
          <a:p>
            <a:endParaRPr lang="en-US"/>
          </a:p>
        </p:txBody>
      </p:sp>
      <p:sp>
        <p:nvSpPr>
          <p:cNvPr id="1048856"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13" name="Title 1"/>
          <p:cNvSpPr>
            <a:spLocks noGrp="1"/>
          </p:cNvSpPr>
          <p:nvPr>
            <p:ph type="title"/>
          </p:nvPr>
        </p:nvSpPr>
        <p:spPr/>
        <p:txBody>
          <a:bodyPr/>
          <a:lstStyle/>
          <a:p>
            <a:r>
              <a:rPr lang="en-US"/>
              <a:t>Click to edit Master title style</a:t>
            </a:r>
          </a:p>
        </p:txBody>
      </p:sp>
      <p:sp>
        <p:nvSpPr>
          <p:cNvPr id="1048814"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15" name="Footer Placeholder 3"/>
          <p:cNvSpPr>
            <a:spLocks noGrp="1"/>
          </p:cNvSpPr>
          <p:nvPr>
            <p:ph type="ftr" sz="quarter" idx="11"/>
          </p:nvPr>
        </p:nvSpPr>
        <p:spPr/>
        <p:txBody>
          <a:bodyPr/>
          <a:lstStyle/>
          <a:p>
            <a:endParaRPr lang="en-US"/>
          </a:p>
        </p:txBody>
      </p:sp>
      <p:sp>
        <p:nvSpPr>
          <p:cNvPr id="104881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857"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858"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9"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60"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61" name="Footer Placeholder 5"/>
          <p:cNvSpPr>
            <a:spLocks noGrp="1"/>
          </p:cNvSpPr>
          <p:nvPr>
            <p:ph type="ftr" sz="quarter" idx="11"/>
          </p:nvPr>
        </p:nvSpPr>
        <p:spPr/>
        <p:txBody>
          <a:bodyPr/>
          <a:lstStyle/>
          <a:p>
            <a:endParaRPr lang="en-US"/>
          </a:p>
        </p:txBody>
      </p:sp>
      <p:sp>
        <p:nvSpPr>
          <p:cNvPr id="1048862"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828"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30"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31" name="Footer Placeholder 5"/>
          <p:cNvSpPr>
            <a:spLocks noGrp="1"/>
          </p:cNvSpPr>
          <p:nvPr>
            <p:ph type="ftr" sz="quarter" idx="11"/>
          </p:nvPr>
        </p:nvSpPr>
        <p:spPr/>
        <p:txBody>
          <a:bodyPr/>
          <a:lstStyle/>
          <a:p>
            <a:endParaRPr lang="en-US"/>
          </a:p>
        </p:txBody>
      </p:sp>
      <p:sp>
        <p:nvSpPr>
          <p:cNvPr id="1048832"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33" name="Title 1"/>
          <p:cNvSpPr>
            <a:spLocks noGrp="1"/>
          </p:cNvSpPr>
          <p:nvPr>
            <p:ph type="title"/>
          </p:nvPr>
        </p:nvSpPr>
        <p:spPr/>
        <p:txBody>
          <a:bodyPr/>
          <a:lstStyle/>
          <a:p>
            <a:r>
              <a:rPr lang="en-US"/>
              <a:t>Click to edit Master title style</a:t>
            </a:r>
          </a:p>
        </p:txBody>
      </p:sp>
      <p:sp>
        <p:nvSpPr>
          <p:cNvPr id="1048834"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5"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36" name="Footer Placeholder 4"/>
          <p:cNvSpPr>
            <a:spLocks noGrp="1"/>
          </p:cNvSpPr>
          <p:nvPr>
            <p:ph type="ftr" sz="quarter" idx="11"/>
          </p:nvPr>
        </p:nvSpPr>
        <p:spPr/>
        <p:txBody>
          <a:bodyPr/>
          <a:lstStyle/>
          <a:p>
            <a:endParaRPr lang="en-US"/>
          </a:p>
        </p:txBody>
      </p:sp>
      <p:sp>
        <p:nvSpPr>
          <p:cNvPr id="1048837"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817"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818"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9"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1048820" name="Footer Placeholder 4"/>
          <p:cNvSpPr>
            <a:spLocks noGrp="1"/>
          </p:cNvSpPr>
          <p:nvPr>
            <p:ph type="ftr" sz="quarter" idx="11"/>
          </p:nvPr>
        </p:nvSpPr>
        <p:spPr/>
        <p:txBody>
          <a:bodyPr/>
          <a:lstStyle/>
          <a:p>
            <a:endParaRPr lang="en-US"/>
          </a:p>
        </p:txBody>
      </p:sp>
      <p:sp>
        <p:nvSpPr>
          <p:cNvPr id="1048821"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Rectangle 1"/>
          <p:cNvSpPr/>
          <p:nvPr/>
        </p:nvSpPr>
        <p:spPr>
          <a:xfrm>
            <a:off x="0" y="0"/>
            <a:ext cx="12191695" cy="6858000"/>
          </a:xfrm>
          <a:prstGeom prst="rect">
            <a:avLst/>
          </a:prstGeom>
          <a:solidFill>
            <a:srgbClr val="14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85" name="Oval 2"/>
          <p:cNvSpPr/>
          <p:nvPr/>
        </p:nvSpPr>
        <p:spPr>
          <a:xfrm>
            <a:off x="8503920" y="594360"/>
            <a:ext cx="1143000" cy="1143000"/>
          </a:xfrm>
          <a:prstGeom prst="ellipse">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86" name="Oval 3"/>
          <p:cNvSpPr/>
          <p:nvPr/>
        </p:nvSpPr>
        <p:spPr>
          <a:xfrm>
            <a:off x="9738360" y="1463040"/>
            <a:ext cx="685800" cy="685800"/>
          </a:xfrm>
          <a:prstGeom prst="ellipse">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87" name="Oval 4"/>
          <p:cNvSpPr/>
          <p:nvPr/>
        </p:nvSpPr>
        <p:spPr>
          <a:xfrm>
            <a:off x="10287000" y="502920"/>
            <a:ext cx="384048" cy="38404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88" name="Oval 5"/>
          <p:cNvSpPr/>
          <p:nvPr/>
        </p:nvSpPr>
        <p:spPr>
          <a:xfrm>
            <a:off x="8869680" y="214884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89" name="Oval 6"/>
          <p:cNvSpPr/>
          <p:nvPr/>
        </p:nvSpPr>
        <p:spPr>
          <a:xfrm>
            <a:off x="10561320" y="2331720"/>
            <a:ext cx="1005840" cy="1005840"/>
          </a:xfrm>
          <a:prstGeom prst="ellipse">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45728" name="Connector 7"/>
          <p:cNvCxnSpPr>
            <a:cxnSpLocks/>
          </p:cNvCxnSpPr>
          <p:nvPr/>
        </p:nvCxnSpPr>
        <p:spPr>
          <a:xfrm flipV="1">
            <a:off x="8092440" y="2926080"/>
            <a:ext cx="502920" cy="1097280"/>
          </a:xfrm>
          <a:prstGeom prst="line">
            <a:avLst/>
          </a:prstGeom>
          <a:ln w="19050">
            <a:solidFill>
              <a:srgbClr val="506991"/>
            </a:solidFill>
          </a:ln>
        </p:spPr>
        <p:style>
          <a:lnRef idx="2">
            <a:schemeClr val="accent1"/>
          </a:lnRef>
          <a:fillRef idx="0">
            <a:schemeClr val="accent1"/>
          </a:fillRef>
          <a:effectRef idx="1">
            <a:schemeClr val="accent1"/>
          </a:effectRef>
          <a:fontRef idx="minor">
            <a:schemeClr val="tx1"/>
          </a:fontRef>
        </p:style>
      </p:cxnSp>
      <p:cxnSp>
        <p:nvCxnSpPr>
          <p:cNvPr id="3145729" name="Connector 8"/>
          <p:cNvCxnSpPr>
            <a:cxnSpLocks/>
          </p:cNvCxnSpPr>
          <p:nvPr/>
        </p:nvCxnSpPr>
        <p:spPr>
          <a:xfrm flipV="1">
            <a:off x="8750808" y="2926080"/>
            <a:ext cx="502920" cy="1097280"/>
          </a:xfrm>
          <a:prstGeom prst="line">
            <a:avLst/>
          </a:prstGeom>
          <a:ln w="19050">
            <a:solidFill>
              <a:srgbClr val="506991"/>
            </a:solidFill>
          </a:ln>
        </p:spPr>
        <p:style>
          <a:lnRef idx="2">
            <a:schemeClr val="accent1"/>
          </a:lnRef>
          <a:fillRef idx="0">
            <a:schemeClr val="accent1"/>
          </a:fillRef>
          <a:effectRef idx="1">
            <a:schemeClr val="accent1"/>
          </a:effectRef>
          <a:fontRef idx="minor">
            <a:schemeClr val="tx1"/>
          </a:fontRef>
        </p:style>
      </p:cxnSp>
      <p:cxnSp>
        <p:nvCxnSpPr>
          <p:cNvPr id="3145730" name="Connector 9"/>
          <p:cNvCxnSpPr>
            <a:cxnSpLocks/>
          </p:cNvCxnSpPr>
          <p:nvPr/>
        </p:nvCxnSpPr>
        <p:spPr>
          <a:xfrm flipV="1">
            <a:off x="9409176" y="2926080"/>
            <a:ext cx="502920" cy="1097280"/>
          </a:xfrm>
          <a:prstGeom prst="line">
            <a:avLst/>
          </a:prstGeom>
          <a:ln w="19050">
            <a:solidFill>
              <a:srgbClr val="506991"/>
            </a:solidFill>
          </a:ln>
        </p:spPr>
        <p:style>
          <a:lnRef idx="2">
            <a:schemeClr val="accent1"/>
          </a:lnRef>
          <a:fillRef idx="0">
            <a:schemeClr val="accent1"/>
          </a:fillRef>
          <a:effectRef idx="1">
            <a:schemeClr val="accent1"/>
          </a:effectRef>
          <a:fontRef idx="minor">
            <a:schemeClr val="tx1"/>
          </a:fontRef>
        </p:style>
      </p:cxnSp>
      <p:cxnSp>
        <p:nvCxnSpPr>
          <p:cNvPr id="3145731" name="Connector 10"/>
          <p:cNvCxnSpPr>
            <a:cxnSpLocks/>
          </p:cNvCxnSpPr>
          <p:nvPr/>
        </p:nvCxnSpPr>
        <p:spPr>
          <a:xfrm flipV="1">
            <a:off x="10067544" y="2926080"/>
            <a:ext cx="502920" cy="1097280"/>
          </a:xfrm>
          <a:prstGeom prst="line">
            <a:avLst/>
          </a:prstGeom>
          <a:ln w="19050">
            <a:solidFill>
              <a:srgbClr val="506991"/>
            </a:solidFill>
          </a:ln>
        </p:spPr>
        <p:style>
          <a:lnRef idx="2">
            <a:schemeClr val="accent1"/>
          </a:lnRef>
          <a:fillRef idx="0">
            <a:schemeClr val="accent1"/>
          </a:fillRef>
          <a:effectRef idx="1">
            <a:schemeClr val="accent1"/>
          </a:effectRef>
          <a:fontRef idx="minor">
            <a:schemeClr val="tx1"/>
          </a:fontRef>
        </p:style>
      </p:cxnSp>
      <p:cxnSp>
        <p:nvCxnSpPr>
          <p:cNvPr id="3145732" name="Connector 11"/>
          <p:cNvCxnSpPr>
            <a:cxnSpLocks/>
          </p:cNvCxnSpPr>
          <p:nvPr/>
        </p:nvCxnSpPr>
        <p:spPr>
          <a:xfrm flipV="1">
            <a:off x="10725912" y="2926080"/>
            <a:ext cx="502920" cy="1097280"/>
          </a:xfrm>
          <a:prstGeom prst="line">
            <a:avLst/>
          </a:prstGeom>
          <a:ln w="19050">
            <a:solidFill>
              <a:srgbClr val="506991"/>
            </a:solidFill>
          </a:ln>
        </p:spPr>
        <p:style>
          <a:lnRef idx="2">
            <a:schemeClr val="accent1"/>
          </a:lnRef>
          <a:fillRef idx="0">
            <a:schemeClr val="accent1"/>
          </a:fillRef>
          <a:effectRef idx="1">
            <a:schemeClr val="accent1"/>
          </a:effectRef>
          <a:fontRef idx="minor">
            <a:schemeClr val="tx1"/>
          </a:fontRef>
        </p:style>
      </p:cxnSp>
      <p:sp>
        <p:nvSpPr>
          <p:cNvPr id="1048590" name="TextBox 12"/>
          <p:cNvSpPr txBox="1"/>
          <p:nvPr/>
        </p:nvSpPr>
        <p:spPr>
          <a:xfrm>
            <a:off x="822960" y="1051560"/>
            <a:ext cx="5029200" cy="281941"/>
          </a:xfrm>
          <a:prstGeom prst="rect">
            <a:avLst/>
          </a:prstGeom>
          <a:noFill/>
        </p:spPr>
        <p:txBody>
          <a:bodyPr wrap="square" lIns="45720" rIns="45720" anchor="t">
            <a:spAutoFit/>
          </a:bodyPr>
          <a:lstStyle/>
          <a:p>
            <a:pPr>
              <a:defRPr sz="1300" b="1">
                <a:solidFill>
                  <a:srgbClr val="CAA352"/>
                </a:solidFill>
                <a:latin typeface="Aptos"/>
              </a:defRPr>
            </a:pPr>
            <a:r>
              <a:t>INTERVIEW ANALYSIS</a:t>
            </a:r>
          </a:p>
        </p:txBody>
      </p:sp>
      <p:sp>
        <p:nvSpPr>
          <p:cNvPr id="1048591" name="TextBox 13"/>
          <p:cNvSpPr txBox="1"/>
          <p:nvPr/>
        </p:nvSpPr>
        <p:spPr>
          <a:xfrm>
            <a:off x="822960" y="1600200"/>
            <a:ext cx="7315200" cy="1107440"/>
          </a:xfrm>
          <a:prstGeom prst="rect">
            <a:avLst/>
          </a:prstGeom>
          <a:noFill/>
        </p:spPr>
        <p:txBody>
          <a:bodyPr wrap="square" lIns="45720" rIns="45720" anchor="t">
            <a:spAutoFit/>
          </a:bodyPr>
          <a:lstStyle/>
          <a:p>
            <a:pPr>
              <a:defRPr sz="3400" b="1">
                <a:solidFill>
                  <a:srgbClr val="FFFFFF"/>
                </a:solidFill>
                <a:latin typeface="Aptos"/>
              </a:defRPr>
            </a:pPr>
            <a:r>
              <a:t>Technology Integration</a:t>
            </a:r>
            <a:br/>
            <a:r>
              <a:t>in Mathematics Education</a:t>
            </a:r>
          </a:p>
        </p:txBody>
      </p:sp>
      <p:sp>
        <p:nvSpPr>
          <p:cNvPr id="1048592" name="TextBox 14"/>
          <p:cNvSpPr txBox="1"/>
          <p:nvPr/>
        </p:nvSpPr>
        <p:spPr>
          <a:xfrm>
            <a:off x="868680" y="3566160"/>
            <a:ext cx="6766560" cy="624840"/>
          </a:xfrm>
          <a:prstGeom prst="rect">
            <a:avLst/>
          </a:prstGeom>
          <a:noFill/>
        </p:spPr>
        <p:txBody>
          <a:bodyPr wrap="square" lIns="45720" rIns="45720" anchor="t">
            <a:spAutoFit/>
          </a:bodyPr>
          <a:lstStyle/>
          <a:p>
            <a:pPr>
              <a:defRPr sz="1800" b="0">
                <a:solidFill>
                  <a:srgbClr val="DCE4EF"/>
                </a:solidFill>
                <a:latin typeface="Aptos"/>
              </a:defRPr>
            </a:pPr>
            <a:r>
              <a:t>A classroom-focused analysis of Teacher J’s practices, frameworks, challenges, and recommendations</a:t>
            </a:r>
          </a:p>
        </p:txBody>
      </p:sp>
      <p:sp>
        <p:nvSpPr>
          <p:cNvPr id="1048593" name="TextBox 15"/>
          <p:cNvSpPr txBox="1"/>
          <p:nvPr/>
        </p:nvSpPr>
        <p:spPr>
          <a:xfrm>
            <a:off x="868680" y="5257800"/>
            <a:ext cx="6675120" cy="662940"/>
          </a:xfrm>
          <a:prstGeom prst="rect">
            <a:avLst/>
          </a:prstGeom>
          <a:noFill/>
        </p:spPr>
        <p:txBody>
          <a:bodyPr wrap="square" lIns="45720" rIns="45720" anchor="t">
            <a:spAutoFit/>
          </a:bodyPr>
          <a:lstStyle/>
          <a:p>
            <a:pPr>
              <a:defRPr sz="1300" b="0">
                <a:solidFill>
                  <a:srgbClr val="FFFFFF"/>
                </a:solidFill>
                <a:latin typeface="Aptos"/>
              </a:defRPr>
            </a:pPr>
            <a:endParaRPr/>
          </a:p>
          <a:p>
            <a:pPr>
              <a:defRPr sz="1300" b="0">
                <a:solidFill>
                  <a:srgbClr val="FFFFFF"/>
                </a:solidFill>
                <a:latin typeface="Aptos"/>
              </a:defRPr>
            </a:pPr>
            <a:r>
              <a:t>Course: </a:t>
            </a:r>
            <a:r>
              <a:rPr lang="en-US"/>
              <a:t> BSED-MATH 2A NEWTOON</a:t>
            </a:r>
            <a:endParaRPr lang="zh-CN" altLang="en-US"/>
          </a:p>
          <a:p>
            <a:pPr>
              <a:defRPr sz="1300" b="0">
                <a:solidFill>
                  <a:srgbClr val="FFFFFF"/>
                </a:solidFill>
                <a:latin typeface="Aptos"/>
              </a:defRPr>
            </a:pPr>
            <a:r>
              <a:t>Date: </a:t>
            </a:r>
            <a:r>
              <a:rPr lang="en-US"/>
              <a:t>10/13/26</a:t>
            </a:r>
            <a:endParaRPr lang="zh-CN" altLang="en-US"/>
          </a:p>
        </p:txBody>
      </p:sp>
      <p:sp>
        <p:nvSpPr>
          <p:cNvPr id="1048594" name="TextBox 16"/>
          <p:cNvSpPr txBox="1"/>
          <p:nvPr/>
        </p:nvSpPr>
        <p:spPr>
          <a:xfrm>
            <a:off x="11109960" y="6446520"/>
            <a:ext cx="457200" cy="231140"/>
          </a:xfrm>
          <a:prstGeom prst="rect">
            <a:avLst/>
          </a:prstGeom>
          <a:noFill/>
        </p:spPr>
        <p:txBody>
          <a:bodyPr wrap="square" lIns="45720" rIns="45720" anchor="t">
            <a:spAutoFit/>
          </a:bodyPr>
          <a:lstStyle/>
          <a:p>
            <a:pPr algn="r">
              <a:defRPr sz="1000" b="1">
                <a:solidFill>
                  <a:srgbClr val="DCE4EF"/>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96"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597"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01 • BACKGROUND</a:t>
            </a:r>
          </a:p>
        </p:txBody>
      </p:sp>
      <p:sp>
        <p:nvSpPr>
          <p:cNvPr id="1048598"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Participant Profile</a:t>
            </a:r>
          </a:p>
        </p:txBody>
      </p:sp>
      <p:sp>
        <p:nvSpPr>
          <p:cNvPr id="1048599"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00"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02</a:t>
            </a:r>
          </a:p>
        </p:txBody>
      </p:sp>
      <p:sp>
        <p:nvSpPr>
          <p:cNvPr id="1048601"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02" name="Rounded Rectangle 8"/>
          <p:cNvSpPr/>
          <p:nvPr/>
        </p:nvSpPr>
        <p:spPr>
          <a:xfrm>
            <a:off x="685800" y="1691640"/>
            <a:ext cx="5166360" cy="34747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03" name="Rectangle 9"/>
          <p:cNvSpPr/>
          <p:nvPr/>
        </p:nvSpPr>
        <p:spPr>
          <a:xfrm>
            <a:off x="685800" y="1691640"/>
            <a:ext cx="82296" cy="347472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04" name="TextBox 10"/>
          <p:cNvSpPr txBox="1"/>
          <p:nvPr/>
        </p:nvSpPr>
        <p:spPr>
          <a:xfrm>
            <a:off x="886968" y="1856232"/>
            <a:ext cx="4782312" cy="345441"/>
          </a:xfrm>
          <a:prstGeom prst="rect">
            <a:avLst/>
          </a:prstGeom>
          <a:noFill/>
        </p:spPr>
        <p:txBody>
          <a:bodyPr wrap="square" lIns="45720" rIns="45720" anchor="t">
            <a:spAutoFit/>
          </a:bodyPr>
          <a:lstStyle/>
          <a:p>
            <a:pPr>
              <a:defRPr sz="1700" b="1">
                <a:solidFill>
                  <a:srgbClr val="142746"/>
                </a:solidFill>
                <a:latin typeface="Aptos"/>
              </a:defRPr>
            </a:pPr>
            <a:r>
              <a:t>Teacher J</a:t>
            </a:r>
          </a:p>
        </p:txBody>
      </p:sp>
      <p:sp>
        <p:nvSpPr>
          <p:cNvPr id="1048605" name="TextBox 11"/>
          <p:cNvSpPr txBox="1"/>
          <p:nvPr/>
        </p:nvSpPr>
        <p:spPr>
          <a:xfrm>
            <a:off x="886968" y="2350008"/>
            <a:ext cx="4782312" cy="1424940"/>
          </a:xfrm>
          <a:prstGeom prst="rect">
            <a:avLst/>
          </a:prstGeom>
          <a:noFill/>
        </p:spPr>
        <p:txBody>
          <a:bodyPr wrap="square" lIns="45720" rIns="45720" anchor="t">
            <a:spAutoFit/>
          </a:bodyPr>
          <a:lstStyle/>
          <a:p>
            <a:pPr>
              <a:defRPr sz="1800" b="0">
                <a:solidFill>
                  <a:srgbClr val="232D3C"/>
                </a:solidFill>
                <a:latin typeface="Aptos"/>
              </a:defRPr>
            </a:pPr>
            <a:r>
              <a:t>• Mathematics teacher at STEAM Academy Middle School</a:t>
            </a:r>
            <a:br/>
            <a:r>
              <a:t>• Based in Ferguson, Missouri</a:t>
            </a:r>
            <a:br/>
            <a:r>
              <a:t>• Nine years of teaching experience</a:t>
            </a:r>
            <a:br/>
            <a:r>
              <a:t>• Teaches mathematics across Grades 7–12</a:t>
            </a:r>
          </a:p>
        </p:txBody>
      </p:sp>
      <p:sp>
        <p:nvSpPr>
          <p:cNvPr id="1048606" name="Rounded Rectangle 12"/>
          <p:cNvSpPr/>
          <p:nvPr/>
        </p:nvSpPr>
        <p:spPr>
          <a:xfrm>
            <a:off x="6172200" y="1691640"/>
            <a:ext cx="5257800" cy="34747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07" name="Rectangle 13"/>
          <p:cNvSpPr/>
          <p:nvPr/>
        </p:nvSpPr>
        <p:spPr>
          <a:xfrm>
            <a:off x="6172200" y="1691640"/>
            <a:ext cx="82296" cy="347472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08" name="TextBox 14"/>
          <p:cNvSpPr txBox="1"/>
          <p:nvPr/>
        </p:nvSpPr>
        <p:spPr>
          <a:xfrm>
            <a:off x="6373368" y="1856232"/>
            <a:ext cx="4873752" cy="345441"/>
          </a:xfrm>
          <a:prstGeom prst="rect">
            <a:avLst/>
          </a:prstGeom>
          <a:noFill/>
        </p:spPr>
        <p:txBody>
          <a:bodyPr wrap="square" lIns="45720" rIns="45720" anchor="t">
            <a:spAutoFit/>
          </a:bodyPr>
          <a:lstStyle/>
          <a:p>
            <a:pPr>
              <a:defRPr sz="1700" b="1">
                <a:solidFill>
                  <a:srgbClr val="142746"/>
                </a:solidFill>
                <a:latin typeface="Aptos"/>
              </a:defRPr>
            </a:pPr>
            <a:r>
              <a:t>Professional Experience</a:t>
            </a:r>
          </a:p>
        </p:txBody>
      </p:sp>
      <p:sp>
        <p:nvSpPr>
          <p:cNvPr id="1048609" name="TextBox 15"/>
          <p:cNvSpPr txBox="1"/>
          <p:nvPr/>
        </p:nvSpPr>
        <p:spPr>
          <a:xfrm>
            <a:off x="6373368" y="2350008"/>
            <a:ext cx="4873752" cy="1958340"/>
          </a:xfrm>
          <a:prstGeom prst="rect">
            <a:avLst/>
          </a:prstGeom>
          <a:noFill/>
        </p:spPr>
        <p:txBody>
          <a:bodyPr wrap="square" lIns="45720" rIns="45720" anchor="t">
            <a:spAutoFit/>
          </a:bodyPr>
          <a:lstStyle/>
          <a:p>
            <a:pPr>
              <a:defRPr sz="1800" b="0">
                <a:solidFill>
                  <a:srgbClr val="232D3C"/>
                </a:solidFill>
                <a:latin typeface="Aptos"/>
              </a:defRPr>
            </a:pPr>
            <a:r>
              <a:t>• Addresses diverse learning needs</a:t>
            </a:r>
            <a:br/>
            <a:r>
              <a:t>• Explains mathematical concepts across grade levels</a:t>
            </a:r>
            <a:br/>
            <a:r>
              <a:t>• Supports students’ mathematical understanding</a:t>
            </a:r>
            <a:br/>
            <a:r>
              <a:t>• Brings practical insight into secondary mathematics instruction</a:t>
            </a:r>
          </a:p>
        </p:txBody>
      </p:sp>
      <p:sp>
        <p:nvSpPr>
          <p:cNvPr id="1048610" name="TextBox 16"/>
          <p:cNvSpPr txBox="1"/>
          <p:nvPr/>
        </p:nvSpPr>
        <p:spPr>
          <a:xfrm>
            <a:off x="868680" y="5486400"/>
            <a:ext cx="10424160" cy="624839"/>
          </a:xfrm>
          <a:prstGeom prst="rect">
            <a:avLst/>
          </a:prstGeom>
          <a:noFill/>
        </p:spPr>
        <p:txBody>
          <a:bodyPr wrap="square" lIns="45720" rIns="45720" anchor="t">
            <a:spAutoFit/>
          </a:bodyPr>
          <a:lstStyle/>
          <a:p>
            <a:pPr algn="ctr">
              <a:defRPr sz="1800" b="1">
                <a:solidFill>
                  <a:srgbClr val="142746"/>
                </a:solidFill>
                <a:latin typeface="Aptos"/>
              </a:defRPr>
            </a:pPr>
            <a:r>
              <a:t>Focus of the interview: how technology can support mathematics learning while responding to real classroom conditions.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12"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13"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01 • BACKGROUND</a:t>
            </a:r>
          </a:p>
        </p:txBody>
      </p:sp>
      <p:sp>
        <p:nvSpPr>
          <p:cNvPr id="1048614"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Interview Context</a:t>
            </a:r>
          </a:p>
        </p:txBody>
      </p:sp>
      <p:sp>
        <p:nvSpPr>
          <p:cNvPr id="1048615"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16"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03</a:t>
            </a:r>
          </a:p>
        </p:txBody>
      </p:sp>
      <p:sp>
        <p:nvSpPr>
          <p:cNvPr id="1048617"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18" name="TextBox 8"/>
          <p:cNvSpPr txBox="1"/>
          <p:nvPr/>
        </p:nvSpPr>
        <p:spPr>
          <a:xfrm>
            <a:off x="868680" y="1691640"/>
            <a:ext cx="1417320" cy="269241"/>
          </a:xfrm>
          <a:prstGeom prst="rect">
            <a:avLst/>
          </a:prstGeom>
          <a:noFill/>
        </p:spPr>
        <p:txBody>
          <a:bodyPr wrap="square" lIns="45720" rIns="45720" anchor="t">
            <a:spAutoFit/>
          </a:bodyPr>
          <a:lstStyle/>
          <a:p>
            <a:pPr>
              <a:defRPr sz="1200" b="1">
                <a:solidFill>
                  <a:srgbClr val="274B7D"/>
                </a:solidFill>
                <a:latin typeface="Aptos"/>
              </a:defRPr>
            </a:pPr>
            <a:r>
              <a:t>DATE</a:t>
            </a:r>
          </a:p>
        </p:txBody>
      </p:sp>
      <p:sp>
        <p:nvSpPr>
          <p:cNvPr id="1048619" name="TextBox 9"/>
          <p:cNvSpPr txBox="1"/>
          <p:nvPr/>
        </p:nvSpPr>
        <p:spPr>
          <a:xfrm>
            <a:off x="2331720" y="1673352"/>
            <a:ext cx="8869680" cy="358140"/>
          </a:xfrm>
          <a:prstGeom prst="rect">
            <a:avLst/>
          </a:prstGeom>
          <a:noFill/>
        </p:spPr>
        <p:txBody>
          <a:bodyPr wrap="square" lIns="45720" rIns="45720" anchor="t">
            <a:spAutoFit/>
          </a:bodyPr>
          <a:lstStyle/>
          <a:p>
            <a:pPr>
              <a:defRPr sz="1800" b="0">
                <a:solidFill>
                  <a:srgbClr val="232D3C"/>
                </a:solidFill>
                <a:latin typeface="Aptos"/>
              </a:defRPr>
            </a:pPr>
            <a:r>
              <a:t>October 8–11, 2026</a:t>
            </a:r>
          </a:p>
        </p:txBody>
      </p:sp>
      <p:sp>
        <p:nvSpPr>
          <p:cNvPr id="1048620" name="Rectangle 10"/>
          <p:cNvSpPr/>
          <p:nvPr/>
        </p:nvSpPr>
        <p:spPr>
          <a:xfrm>
            <a:off x="868680" y="2194560"/>
            <a:ext cx="10241280" cy="10972"/>
          </a:xfrm>
          <a:prstGeom prst="rect">
            <a:avLst/>
          </a:prstGeom>
          <a:solidFill>
            <a:srgbClr val="DC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21" name="TextBox 11"/>
          <p:cNvSpPr txBox="1"/>
          <p:nvPr/>
        </p:nvSpPr>
        <p:spPr>
          <a:xfrm>
            <a:off x="868680" y="2514600"/>
            <a:ext cx="1417320" cy="269241"/>
          </a:xfrm>
          <a:prstGeom prst="rect">
            <a:avLst/>
          </a:prstGeom>
          <a:noFill/>
        </p:spPr>
        <p:txBody>
          <a:bodyPr wrap="square" lIns="45720" rIns="45720" anchor="t">
            <a:spAutoFit/>
          </a:bodyPr>
          <a:lstStyle/>
          <a:p>
            <a:pPr>
              <a:defRPr sz="1200" b="1">
                <a:solidFill>
                  <a:srgbClr val="274B7D"/>
                </a:solidFill>
                <a:latin typeface="Aptos"/>
              </a:defRPr>
            </a:pPr>
            <a:r>
              <a:t>FORMAT</a:t>
            </a:r>
          </a:p>
        </p:txBody>
      </p:sp>
      <p:sp>
        <p:nvSpPr>
          <p:cNvPr id="1048622" name="TextBox 12"/>
          <p:cNvSpPr txBox="1"/>
          <p:nvPr/>
        </p:nvSpPr>
        <p:spPr>
          <a:xfrm>
            <a:off x="2331720" y="2496312"/>
            <a:ext cx="8869680" cy="358140"/>
          </a:xfrm>
          <a:prstGeom prst="rect">
            <a:avLst/>
          </a:prstGeom>
          <a:noFill/>
        </p:spPr>
        <p:txBody>
          <a:bodyPr wrap="square" lIns="45720" rIns="45720" anchor="t">
            <a:spAutoFit/>
          </a:bodyPr>
          <a:lstStyle/>
          <a:p>
            <a:pPr>
              <a:defRPr sz="1800" b="0">
                <a:solidFill>
                  <a:srgbClr val="232D3C"/>
                </a:solidFill>
                <a:latin typeface="Aptos"/>
              </a:defRPr>
            </a:pPr>
            <a:r>
              <a:t>Asynchronous online survey via Google Forms</a:t>
            </a:r>
          </a:p>
        </p:txBody>
      </p:sp>
      <p:sp>
        <p:nvSpPr>
          <p:cNvPr id="1048623" name="Rectangle 13"/>
          <p:cNvSpPr/>
          <p:nvPr/>
        </p:nvSpPr>
        <p:spPr>
          <a:xfrm>
            <a:off x="868680" y="3017520"/>
            <a:ext cx="10241280" cy="10972"/>
          </a:xfrm>
          <a:prstGeom prst="rect">
            <a:avLst/>
          </a:prstGeom>
          <a:solidFill>
            <a:srgbClr val="DC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24" name="TextBox 14"/>
          <p:cNvSpPr txBox="1"/>
          <p:nvPr/>
        </p:nvSpPr>
        <p:spPr>
          <a:xfrm>
            <a:off x="868680" y="3337560"/>
            <a:ext cx="1417320" cy="269240"/>
          </a:xfrm>
          <a:prstGeom prst="rect">
            <a:avLst/>
          </a:prstGeom>
          <a:noFill/>
        </p:spPr>
        <p:txBody>
          <a:bodyPr wrap="square" lIns="45720" rIns="45720" anchor="t">
            <a:spAutoFit/>
          </a:bodyPr>
          <a:lstStyle/>
          <a:p>
            <a:pPr>
              <a:defRPr sz="1200" b="1">
                <a:solidFill>
                  <a:srgbClr val="274B7D"/>
                </a:solidFill>
                <a:latin typeface="Aptos"/>
              </a:defRPr>
            </a:pPr>
            <a:r>
              <a:t>DURATION</a:t>
            </a:r>
          </a:p>
        </p:txBody>
      </p:sp>
      <p:sp>
        <p:nvSpPr>
          <p:cNvPr id="1048625" name="TextBox 15"/>
          <p:cNvSpPr txBox="1"/>
          <p:nvPr/>
        </p:nvSpPr>
        <p:spPr>
          <a:xfrm>
            <a:off x="2331720" y="3319272"/>
            <a:ext cx="8869680" cy="358140"/>
          </a:xfrm>
          <a:prstGeom prst="rect">
            <a:avLst/>
          </a:prstGeom>
          <a:noFill/>
        </p:spPr>
        <p:txBody>
          <a:bodyPr wrap="square" lIns="45720" rIns="45720" anchor="t">
            <a:spAutoFit/>
          </a:bodyPr>
          <a:lstStyle/>
          <a:p>
            <a:pPr>
              <a:defRPr sz="1800" b="0">
                <a:solidFill>
                  <a:srgbClr val="232D3C"/>
                </a:solidFill>
                <a:latin typeface="Aptos"/>
              </a:defRPr>
            </a:pPr>
            <a:r>
              <a:t>Approximately 25–35 minutes</a:t>
            </a:r>
          </a:p>
        </p:txBody>
      </p:sp>
      <p:sp>
        <p:nvSpPr>
          <p:cNvPr id="1048626" name="Rectangle 16"/>
          <p:cNvSpPr/>
          <p:nvPr/>
        </p:nvSpPr>
        <p:spPr>
          <a:xfrm>
            <a:off x="868680" y="3840480"/>
            <a:ext cx="10241280" cy="10972"/>
          </a:xfrm>
          <a:prstGeom prst="rect">
            <a:avLst/>
          </a:prstGeom>
          <a:solidFill>
            <a:srgbClr val="DC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27" name="TextBox 17"/>
          <p:cNvSpPr txBox="1"/>
          <p:nvPr/>
        </p:nvSpPr>
        <p:spPr>
          <a:xfrm>
            <a:off x="868680" y="4160520"/>
            <a:ext cx="1417320" cy="269241"/>
          </a:xfrm>
          <a:prstGeom prst="rect">
            <a:avLst/>
          </a:prstGeom>
          <a:noFill/>
        </p:spPr>
        <p:txBody>
          <a:bodyPr wrap="square" lIns="45720" rIns="45720" anchor="t">
            <a:spAutoFit/>
          </a:bodyPr>
          <a:lstStyle/>
          <a:p>
            <a:pPr>
              <a:defRPr sz="1200" b="1">
                <a:solidFill>
                  <a:srgbClr val="274B7D"/>
                </a:solidFill>
                <a:latin typeface="Aptos"/>
              </a:defRPr>
            </a:pPr>
            <a:r>
              <a:t>PURPOSE</a:t>
            </a:r>
          </a:p>
        </p:txBody>
      </p:sp>
      <p:sp>
        <p:nvSpPr>
          <p:cNvPr id="1048628" name="TextBox 18"/>
          <p:cNvSpPr txBox="1"/>
          <p:nvPr/>
        </p:nvSpPr>
        <p:spPr>
          <a:xfrm>
            <a:off x="2331720" y="4142232"/>
            <a:ext cx="8869680" cy="358140"/>
          </a:xfrm>
          <a:prstGeom prst="rect">
            <a:avLst/>
          </a:prstGeom>
          <a:noFill/>
        </p:spPr>
        <p:txBody>
          <a:bodyPr wrap="square" lIns="45720" rIns="45720" anchor="t">
            <a:spAutoFit/>
          </a:bodyPr>
          <a:lstStyle/>
          <a:p>
            <a:pPr>
              <a:defRPr sz="1800" b="0">
                <a:solidFill>
                  <a:srgbClr val="232D3C"/>
                </a:solidFill>
                <a:latin typeface="Aptos"/>
              </a:defRPr>
            </a:pPr>
            <a:r>
              <a:t>Explore technology use, teaching strategies, constraints, and learning assessment</a:t>
            </a:r>
          </a:p>
        </p:txBody>
      </p:sp>
      <p:sp>
        <p:nvSpPr>
          <p:cNvPr id="1048629" name="Rectangle 19"/>
          <p:cNvSpPr/>
          <p:nvPr/>
        </p:nvSpPr>
        <p:spPr>
          <a:xfrm>
            <a:off x="868680" y="4663440"/>
            <a:ext cx="10241280" cy="10972"/>
          </a:xfrm>
          <a:prstGeom prst="rect">
            <a:avLst/>
          </a:prstGeom>
          <a:solidFill>
            <a:srgbClr val="DC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30" name="TextBox 20"/>
          <p:cNvSpPr txBox="1"/>
          <p:nvPr/>
        </p:nvSpPr>
        <p:spPr>
          <a:xfrm>
            <a:off x="868680" y="4983480"/>
            <a:ext cx="1417320" cy="269240"/>
          </a:xfrm>
          <a:prstGeom prst="rect">
            <a:avLst/>
          </a:prstGeom>
          <a:noFill/>
        </p:spPr>
        <p:txBody>
          <a:bodyPr wrap="square" lIns="45720" rIns="45720" anchor="t">
            <a:spAutoFit/>
          </a:bodyPr>
          <a:lstStyle/>
          <a:p>
            <a:pPr>
              <a:defRPr sz="1200" b="1">
                <a:solidFill>
                  <a:srgbClr val="274B7D"/>
                </a:solidFill>
                <a:latin typeface="Aptos"/>
              </a:defRPr>
            </a:pPr>
            <a:r>
              <a:t>CONSENT</a:t>
            </a:r>
          </a:p>
        </p:txBody>
      </p:sp>
      <p:sp>
        <p:nvSpPr>
          <p:cNvPr id="1048631" name="TextBox 21"/>
          <p:cNvSpPr txBox="1"/>
          <p:nvPr/>
        </p:nvSpPr>
        <p:spPr>
          <a:xfrm>
            <a:off x="2331720" y="4965192"/>
            <a:ext cx="8869680" cy="624839"/>
          </a:xfrm>
          <a:prstGeom prst="rect">
            <a:avLst/>
          </a:prstGeom>
          <a:noFill/>
        </p:spPr>
        <p:txBody>
          <a:bodyPr wrap="square" lIns="45720" rIns="45720" anchor="t">
            <a:spAutoFit/>
          </a:bodyPr>
          <a:lstStyle/>
          <a:p>
            <a:pPr>
              <a:defRPr sz="1800" b="0">
                <a:solidFill>
                  <a:srgbClr val="232D3C"/>
                </a:solidFill>
                <a:latin typeface="Aptos"/>
              </a:defRPr>
            </a:pPr>
            <a:r>
              <a:t>Permission obtained for participation and screenshots; responses used for educational documentation and reflection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33"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34"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02 • FINDINGS</a:t>
            </a:r>
          </a:p>
        </p:txBody>
      </p:sp>
      <p:sp>
        <p:nvSpPr>
          <p:cNvPr id="1048635"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Summary of Interview Responses</a:t>
            </a:r>
          </a:p>
        </p:txBody>
      </p:sp>
      <p:sp>
        <p:nvSpPr>
          <p:cNvPr id="1048636"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37"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04</a:t>
            </a:r>
          </a:p>
        </p:txBody>
      </p:sp>
      <p:sp>
        <p:nvSpPr>
          <p:cNvPr id="1048638"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39" name="Rounded Rectangle 8"/>
          <p:cNvSpPr/>
          <p:nvPr/>
        </p:nvSpPr>
        <p:spPr>
          <a:xfrm>
            <a:off x="685800" y="1691640"/>
            <a:ext cx="3520440" cy="3611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0" name="Rectangle 9"/>
          <p:cNvSpPr/>
          <p:nvPr/>
        </p:nvSpPr>
        <p:spPr>
          <a:xfrm>
            <a:off x="685800" y="1691640"/>
            <a:ext cx="82296" cy="361188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1" name="TextBox 10"/>
          <p:cNvSpPr txBox="1"/>
          <p:nvPr/>
        </p:nvSpPr>
        <p:spPr>
          <a:xfrm>
            <a:off x="886968" y="1856232"/>
            <a:ext cx="3136392" cy="345441"/>
          </a:xfrm>
          <a:prstGeom prst="rect">
            <a:avLst/>
          </a:prstGeom>
          <a:noFill/>
        </p:spPr>
        <p:txBody>
          <a:bodyPr wrap="square" lIns="45720" rIns="45720" anchor="t">
            <a:spAutoFit/>
          </a:bodyPr>
          <a:lstStyle/>
          <a:p>
            <a:pPr>
              <a:defRPr sz="1700" b="1">
                <a:solidFill>
                  <a:srgbClr val="142746"/>
                </a:solidFill>
                <a:latin typeface="Aptos"/>
              </a:defRPr>
            </a:pPr>
            <a:r>
              <a:t>Visualization</a:t>
            </a:r>
          </a:p>
        </p:txBody>
      </p:sp>
      <p:sp>
        <p:nvSpPr>
          <p:cNvPr id="1048642" name="TextBox 11"/>
          <p:cNvSpPr txBox="1"/>
          <p:nvPr/>
        </p:nvSpPr>
        <p:spPr>
          <a:xfrm>
            <a:off x="886968" y="2350008"/>
            <a:ext cx="3136392" cy="1107441"/>
          </a:xfrm>
          <a:prstGeom prst="rect">
            <a:avLst/>
          </a:prstGeom>
          <a:noFill/>
        </p:spPr>
        <p:txBody>
          <a:bodyPr wrap="square" lIns="45720" rIns="45720" anchor="t">
            <a:spAutoFit/>
          </a:bodyPr>
          <a:lstStyle/>
          <a:p>
            <a:pPr>
              <a:defRPr sz="1700" b="0">
                <a:solidFill>
                  <a:srgbClr val="232D3C"/>
                </a:solidFill>
                <a:latin typeface="Aptos"/>
              </a:defRPr>
            </a:pPr>
            <a:r>
              <a:t>Desmos helps students explore graphs and observe how equations affect slope and line position.</a:t>
            </a:r>
          </a:p>
        </p:txBody>
      </p:sp>
      <p:sp>
        <p:nvSpPr>
          <p:cNvPr id="1048643" name="Rounded Rectangle 12"/>
          <p:cNvSpPr/>
          <p:nvPr/>
        </p:nvSpPr>
        <p:spPr>
          <a:xfrm>
            <a:off x="4343400" y="1691640"/>
            <a:ext cx="3520440" cy="3611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4" name="Rectangle 13"/>
          <p:cNvSpPr/>
          <p:nvPr/>
        </p:nvSpPr>
        <p:spPr>
          <a:xfrm>
            <a:off x="4343400" y="1691640"/>
            <a:ext cx="82296" cy="361188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5" name="TextBox 14"/>
          <p:cNvSpPr txBox="1"/>
          <p:nvPr/>
        </p:nvSpPr>
        <p:spPr>
          <a:xfrm>
            <a:off x="4544568" y="1856232"/>
            <a:ext cx="3136392" cy="345441"/>
          </a:xfrm>
          <a:prstGeom prst="rect">
            <a:avLst/>
          </a:prstGeom>
          <a:noFill/>
        </p:spPr>
        <p:txBody>
          <a:bodyPr wrap="square" lIns="45720" rIns="45720" anchor="t">
            <a:spAutoFit/>
          </a:bodyPr>
          <a:lstStyle/>
          <a:p>
            <a:pPr>
              <a:defRPr sz="1700" b="1">
                <a:solidFill>
                  <a:srgbClr val="142746"/>
                </a:solidFill>
                <a:latin typeface="Aptos"/>
              </a:defRPr>
            </a:pPr>
            <a:r>
              <a:t>Practice &amp; Feedback</a:t>
            </a:r>
          </a:p>
        </p:txBody>
      </p:sp>
      <p:sp>
        <p:nvSpPr>
          <p:cNvPr id="1048646" name="TextBox 15"/>
          <p:cNvSpPr txBox="1"/>
          <p:nvPr/>
        </p:nvSpPr>
        <p:spPr>
          <a:xfrm>
            <a:off x="4544568" y="2350008"/>
            <a:ext cx="3136392" cy="1107441"/>
          </a:xfrm>
          <a:prstGeom prst="rect">
            <a:avLst/>
          </a:prstGeom>
          <a:noFill/>
        </p:spPr>
        <p:txBody>
          <a:bodyPr wrap="square" lIns="45720" rIns="45720" anchor="t">
            <a:spAutoFit/>
          </a:bodyPr>
          <a:lstStyle/>
          <a:p>
            <a:pPr>
              <a:defRPr sz="1700" b="0">
                <a:solidFill>
                  <a:srgbClr val="232D3C"/>
                </a:solidFill>
                <a:latin typeface="Aptos"/>
              </a:defRPr>
            </a:pPr>
            <a:r>
              <a:t>DeltaMath checks answers automatically and provides immediate feedback during algebra practice.</a:t>
            </a:r>
          </a:p>
        </p:txBody>
      </p:sp>
      <p:sp>
        <p:nvSpPr>
          <p:cNvPr id="1048647" name="Rounded Rectangle 16"/>
          <p:cNvSpPr/>
          <p:nvPr/>
        </p:nvSpPr>
        <p:spPr>
          <a:xfrm>
            <a:off x="8001000" y="1691640"/>
            <a:ext cx="3520440" cy="3611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8" name="Rectangle 17"/>
          <p:cNvSpPr/>
          <p:nvPr/>
        </p:nvSpPr>
        <p:spPr>
          <a:xfrm>
            <a:off x="8001000" y="1691640"/>
            <a:ext cx="82296" cy="361188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49" name="TextBox 18"/>
          <p:cNvSpPr txBox="1"/>
          <p:nvPr/>
        </p:nvSpPr>
        <p:spPr>
          <a:xfrm>
            <a:off x="8202168" y="1856232"/>
            <a:ext cx="3136392" cy="345441"/>
          </a:xfrm>
          <a:prstGeom prst="rect">
            <a:avLst/>
          </a:prstGeom>
          <a:noFill/>
        </p:spPr>
        <p:txBody>
          <a:bodyPr wrap="square" lIns="45720" rIns="45720" anchor="t">
            <a:spAutoFit/>
          </a:bodyPr>
          <a:lstStyle/>
          <a:p>
            <a:pPr>
              <a:defRPr sz="1700" b="1">
                <a:solidFill>
                  <a:srgbClr val="142746"/>
                </a:solidFill>
                <a:latin typeface="Aptos"/>
              </a:defRPr>
            </a:pPr>
            <a:r>
              <a:t>Evidence of Learning</a:t>
            </a:r>
          </a:p>
        </p:txBody>
      </p:sp>
      <p:sp>
        <p:nvSpPr>
          <p:cNvPr id="1048650" name="TextBox 19"/>
          <p:cNvSpPr txBox="1"/>
          <p:nvPr/>
        </p:nvSpPr>
        <p:spPr>
          <a:xfrm>
            <a:off x="8202168" y="2350008"/>
            <a:ext cx="3136392" cy="1107441"/>
          </a:xfrm>
          <a:prstGeom prst="rect">
            <a:avLst/>
          </a:prstGeom>
          <a:noFill/>
        </p:spPr>
        <p:txBody>
          <a:bodyPr wrap="square" lIns="45720" rIns="45720" anchor="t">
            <a:spAutoFit/>
          </a:bodyPr>
          <a:lstStyle/>
          <a:p>
            <a:pPr>
              <a:defRPr sz="1700" b="0">
                <a:solidFill>
                  <a:srgbClr val="232D3C"/>
                </a:solidFill>
                <a:latin typeface="Aptos"/>
              </a:defRPr>
            </a:pPr>
            <a:r>
              <a:t>The teacher uses assessments and independent problem-solving to check whether learning improves.</a:t>
            </a:r>
          </a:p>
        </p:txBody>
      </p:sp>
      <p:sp>
        <p:nvSpPr>
          <p:cNvPr id="1048651" name="TextBox 20"/>
          <p:cNvSpPr txBox="1"/>
          <p:nvPr/>
        </p:nvSpPr>
        <p:spPr>
          <a:xfrm>
            <a:off x="868680" y="5623560"/>
            <a:ext cx="10424160" cy="624840"/>
          </a:xfrm>
          <a:prstGeom prst="rect">
            <a:avLst/>
          </a:prstGeom>
          <a:noFill/>
        </p:spPr>
        <p:txBody>
          <a:bodyPr wrap="square" lIns="45720" rIns="45720" anchor="t">
            <a:spAutoFit/>
          </a:bodyPr>
          <a:lstStyle/>
          <a:p>
            <a:pPr algn="ctr">
              <a:defRPr sz="1800" b="1">
                <a:solidFill>
                  <a:srgbClr val="142746"/>
                </a:solidFill>
                <a:latin typeface="Aptos"/>
              </a:defRPr>
            </a:pPr>
            <a:r>
              <a:t>Central principle: technology should support conceptual understanding—not simply produce correct answers.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53"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54"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02 • FINDINGS</a:t>
            </a:r>
          </a:p>
        </p:txBody>
      </p:sp>
      <p:sp>
        <p:nvSpPr>
          <p:cNvPr id="1048655"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Significant Classroom Incidents</a:t>
            </a:r>
          </a:p>
        </p:txBody>
      </p:sp>
      <p:sp>
        <p:nvSpPr>
          <p:cNvPr id="1048656"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57"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05</a:t>
            </a:r>
          </a:p>
        </p:txBody>
      </p:sp>
      <p:sp>
        <p:nvSpPr>
          <p:cNvPr id="1048658"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59" name="Rounded Rectangle 8"/>
          <p:cNvSpPr/>
          <p:nvPr/>
        </p:nvSpPr>
        <p:spPr>
          <a:xfrm>
            <a:off x="731520" y="1691640"/>
            <a:ext cx="5257800" cy="41605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0" name="Rectangle 9"/>
          <p:cNvSpPr/>
          <p:nvPr/>
        </p:nvSpPr>
        <p:spPr>
          <a:xfrm>
            <a:off x="731520" y="1691640"/>
            <a:ext cx="82296" cy="416052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1" name="TextBox 10"/>
          <p:cNvSpPr txBox="1"/>
          <p:nvPr/>
        </p:nvSpPr>
        <p:spPr>
          <a:xfrm>
            <a:off x="932688" y="1856232"/>
            <a:ext cx="4873752" cy="345441"/>
          </a:xfrm>
          <a:prstGeom prst="rect">
            <a:avLst/>
          </a:prstGeom>
          <a:noFill/>
        </p:spPr>
        <p:txBody>
          <a:bodyPr wrap="square" lIns="45720" rIns="45720" anchor="t">
            <a:spAutoFit/>
          </a:bodyPr>
          <a:lstStyle/>
          <a:p>
            <a:pPr>
              <a:defRPr sz="1700" b="1">
                <a:solidFill>
                  <a:srgbClr val="142746"/>
                </a:solidFill>
                <a:latin typeface="Aptos"/>
              </a:defRPr>
            </a:pPr>
            <a:r>
              <a:t>01  Geometry • Desmos</a:t>
            </a:r>
          </a:p>
        </p:txBody>
      </p:sp>
      <p:sp>
        <p:nvSpPr>
          <p:cNvPr id="1048662" name="TextBox 11"/>
          <p:cNvSpPr txBox="1"/>
          <p:nvPr/>
        </p:nvSpPr>
        <p:spPr>
          <a:xfrm>
            <a:off x="932688" y="2350008"/>
            <a:ext cx="4873752" cy="1869441"/>
          </a:xfrm>
          <a:prstGeom prst="rect">
            <a:avLst/>
          </a:prstGeom>
          <a:noFill/>
        </p:spPr>
        <p:txBody>
          <a:bodyPr wrap="square" lIns="45720" rIns="45720" anchor="t">
            <a:spAutoFit/>
          </a:bodyPr>
          <a:lstStyle/>
          <a:p>
            <a:pPr>
              <a:defRPr sz="1700" b="0">
                <a:solidFill>
                  <a:srgbClr val="232D3C"/>
                </a:solidFill>
                <a:latin typeface="Aptos"/>
              </a:defRPr>
            </a:pPr>
            <a:r>
              <a:t>• Students changed values in linear equations.</a:t>
            </a:r>
            <a:br/>
            <a:r>
              <a:t>• Graphs updated in real time.</a:t>
            </a:r>
            <a:br/>
            <a:r>
              <a:t>• Learners observed changes in slope and position.</a:t>
            </a:r>
            <a:br/>
            <a:br/>
            <a:r>
              <a:t>Outcome: stronger visualization and exploration of mathematical relationships.</a:t>
            </a:r>
          </a:p>
        </p:txBody>
      </p:sp>
      <p:sp>
        <p:nvSpPr>
          <p:cNvPr id="1048663" name="Rounded Rectangle 12"/>
          <p:cNvSpPr/>
          <p:nvPr/>
        </p:nvSpPr>
        <p:spPr>
          <a:xfrm>
            <a:off x="6217920" y="1691640"/>
            <a:ext cx="5257800" cy="41605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4" name="Rectangle 13"/>
          <p:cNvSpPr/>
          <p:nvPr/>
        </p:nvSpPr>
        <p:spPr>
          <a:xfrm>
            <a:off x="6217920" y="1691640"/>
            <a:ext cx="82296" cy="416052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5" name="TextBox 14"/>
          <p:cNvSpPr txBox="1"/>
          <p:nvPr/>
        </p:nvSpPr>
        <p:spPr>
          <a:xfrm>
            <a:off x="6419088" y="1856232"/>
            <a:ext cx="4873752" cy="345441"/>
          </a:xfrm>
          <a:prstGeom prst="rect">
            <a:avLst/>
          </a:prstGeom>
          <a:noFill/>
        </p:spPr>
        <p:txBody>
          <a:bodyPr wrap="square" lIns="45720" rIns="45720" anchor="t">
            <a:spAutoFit/>
          </a:bodyPr>
          <a:lstStyle/>
          <a:p>
            <a:pPr>
              <a:defRPr sz="1700" b="1">
                <a:solidFill>
                  <a:srgbClr val="142746"/>
                </a:solidFill>
                <a:latin typeface="Aptos"/>
              </a:defRPr>
            </a:pPr>
            <a:r>
              <a:t>02  Algebra 1 • DeltaMath</a:t>
            </a:r>
          </a:p>
        </p:txBody>
      </p:sp>
      <p:sp>
        <p:nvSpPr>
          <p:cNvPr id="1048666" name="TextBox 15"/>
          <p:cNvSpPr txBox="1"/>
          <p:nvPr/>
        </p:nvSpPr>
        <p:spPr>
          <a:xfrm>
            <a:off x="6419088" y="2350008"/>
            <a:ext cx="4873752" cy="2377441"/>
          </a:xfrm>
          <a:prstGeom prst="rect">
            <a:avLst/>
          </a:prstGeom>
          <a:noFill/>
        </p:spPr>
        <p:txBody>
          <a:bodyPr wrap="square" lIns="45720" rIns="45720" anchor="t">
            <a:spAutoFit/>
          </a:bodyPr>
          <a:lstStyle/>
          <a:p>
            <a:pPr>
              <a:defRPr sz="1700" b="0">
                <a:solidFill>
                  <a:srgbClr val="232D3C"/>
                </a:solidFill>
                <a:latin typeface="Aptos"/>
              </a:defRPr>
            </a:pPr>
            <a:r>
              <a:t>• Students simplified expressions and used exponent properties.</a:t>
            </a:r>
            <a:br/>
            <a:r>
              <a:t>• Automated feedback identified errors during practice.</a:t>
            </a:r>
            <a:br/>
            <a:r>
              <a:t>• Teacher could monitor progress and spend less time grading.</a:t>
            </a:r>
            <a:br/>
            <a:br/>
            <a:r>
              <a:t>Outcome: reinforced procedural fluency and targeted guidance.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8"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69"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03 • FRAMEWORKS</a:t>
            </a:r>
          </a:p>
        </p:txBody>
      </p:sp>
      <p:sp>
        <p:nvSpPr>
          <p:cNvPr id="1048670"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Framework Analysis 1: TPACK</a:t>
            </a:r>
          </a:p>
        </p:txBody>
      </p:sp>
      <p:sp>
        <p:nvSpPr>
          <p:cNvPr id="1048671"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72"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06</a:t>
            </a:r>
          </a:p>
        </p:txBody>
      </p:sp>
      <p:sp>
        <p:nvSpPr>
          <p:cNvPr id="1048673"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74" name="TextBox 8"/>
          <p:cNvSpPr txBox="1"/>
          <p:nvPr/>
        </p:nvSpPr>
        <p:spPr>
          <a:xfrm>
            <a:off x="777240" y="1572768"/>
            <a:ext cx="10515600" cy="345440"/>
          </a:xfrm>
          <a:prstGeom prst="rect">
            <a:avLst/>
          </a:prstGeom>
          <a:noFill/>
        </p:spPr>
        <p:txBody>
          <a:bodyPr wrap="square" lIns="45720" rIns="45720" anchor="t">
            <a:spAutoFit/>
          </a:bodyPr>
          <a:lstStyle/>
          <a:p>
            <a:pPr>
              <a:defRPr sz="1700" b="0">
                <a:solidFill>
                  <a:srgbClr val="5F6B7B"/>
                </a:solidFill>
                <a:latin typeface="Aptos"/>
              </a:defRPr>
            </a:pPr>
            <a:r>
              <a:t>TPACK examines how technology, pedagogy, and content work together in teaching.</a:t>
            </a:r>
          </a:p>
        </p:txBody>
      </p:sp>
      <p:sp>
        <p:nvSpPr>
          <p:cNvPr id="1048675" name="Rounded Rectangle 9"/>
          <p:cNvSpPr/>
          <p:nvPr/>
        </p:nvSpPr>
        <p:spPr>
          <a:xfrm>
            <a:off x="731520" y="2148840"/>
            <a:ext cx="3429000" cy="237744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76" name="Rectangle 10"/>
          <p:cNvSpPr/>
          <p:nvPr/>
        </p:nvSpPr>
        <p:spPr>
          <a:xfrm>
            <a:off x="731520" y="2148840"/>
            <a:ext cx="82296" cy="237744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77" name="TextBox 11"/>
          <p:cNvSpPr txBox="1"/>
          <p:nvPr/>
        </p:nvSpPr>
        <p:spPr>
          <a:xfrm>
            <a:off x="932688" y="2313432"/>
            <a:ext cx="3044952" cy="345441"/>
          </a:xfrm>
          <a:prstGeom prst="rect">
            <a:avLst/>
          </a:prstGeom>
          <a:noFill/>
        </p:spPr>
        <p:txBody>
          <a:bodyPr wrap="square" lIns="45720" rIns="45720" anchor="t">
            <a:spAutoFit/>
          </a:bodyPr>
          <a:lstStyle/>
          <a:p>
            <a:pPr>
              <a:defRPr sz="1700" b="1">
                <a:solidFill>
                  <a:srgbClr val="142746"/>
                </a:solidFill>
                <a:latin typeface="Aptos"/>
              </a:defRPr>
            </a:pPr>
            <a:r>
              <a:t>Content Knowledge (CK)</a:t>
            </a:r>
          </a:p>
        </p:txBody>
      </p:sp>
      <p:sp>
        <p:nvSpPr>
          <p:cNvPr id="1048678" name="TextBox 12"/>
          <p:cNvSpPr txBox="1"/>
          <p:nvPr/>
        </p:nvSpPr>
        <p:spPr>
          <a:xfrm>
            <a:off x="932688" y="2807208"/>
            <a:ext cx="3044952" cy="815340"/>
          </a:xfrm>
          <a:prstGeom prst="rect">
            <a:avLst/>
          </a:prstGeom>
          <a:noFill/>
        </p:spPr>
        <p:txBody>
          <a:bodyPr wrap="square" lIns="45720" rIns="45720" anchor="t">
            <a:spAutoFit/>
          </a:bodyPr>
          <a:lstStyle/>
          <a:p>
            <a:pPr>
              <a:defRPr sz="1600" b="0">
                <a:solidFill>
                  <a:srgbClr val="232D3C"/>
                </a:solidFill>
                <a:latin typeface="Aptos"/>
              </a:defRPr>
            </a:pPr>
            <a:r>
              <a:t>Mathematical concepts: linear graphs, algebraic expressions, and exponents.</a:t>
            </a:r>
          </a:p>
        </p:txBody>
      </p:sp>
      <p:sp>
        <p:nvSpPr>
          <p:cNvPr id="1048679" name="Rounded Rectangle 13"/>
          <p:cNvSpPr/>
          <p:nvPr/>
        </p:nvSpPr>
        <p:spPr>
          <a:xfrm>
            <a:off x="4389120" y="2148840"/>
            <a:ext cx="3429000" cy="237744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80" name="Rectangle 14"/>
          <p:cNvSpPr/>
          <p:nvPr/>
        </p:nvSpPr>
        <p:spPr>
          <a:xfrm>
            <a:off x="4389120" y="2148840"/>
            <a:ext cx="82296" cy="237744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81" name="TextBox 15"/>
          <p:cNvSpPr txBox="1"/>
          <p:nvPr/>
        </p:nvSpPr>
        <p:spPr>
          <a:xfrm>
            <a:off x="4590288" y="2313432"/>
            <a:ext cx="3044952" cy="345441"/>
          </a:xfrm>
          <a:prstGeom prst="rect">
            <a:avLst/>
          </a:prstGeom>
          <a:noFill/>
        </p:spPr>
        <p:txBody>
          <a:bodyPr wrap="square" lIns="45720" rIns="45720" anchor="t">
            <a:spAutoFit/>
          </a:bodyPr>
          <a:lstStyle/>
          <a:p>
            <a:pPr>
              <a:defRPr sz="1700" b="1">
                <a:solidFill>
                  <a:srgbClr val="142746"/>
                </a:solidFill>
                <a:latin typeface="Aptos"/>
              </a:defRPr>
            </a:pPr>
            <a:r>
              <a:t>Pedagogical Knowledge (PK)</a:t>
            </a:r>
          </a:p>
        </p:txBody>
      </p:sp>
      <p:sp>
        <p:nvSpPr>
          <p:cNvPr id="1048682" name="TextBox 16"/>
          <p:cNvSpPr txBox="1"/>
          <p:nvPr/>
        </p:nvSpPr>
        <p:spPr>
          <a:xfrm>
            <a:off x="4590288" y="2807208"/>
            <a:ext cx="3044952" cy="815340"/>
          </a:xfrm>
          <a:prstGeom prst="rect">
            <a:avLst/>
          </a:prstGeom>
          <a:noFill/>
        </p:spPr>
        <p:txBody>
          <a:bodyPr wrap="square" lIns="45720" rIns="45720" anchor="t">
            <a:spAutoFit/>
          </a:bodyPr>
          <a:lstStyle/>
          <a:p>
            <a:pPr>
              <a:defRPr sz="1600" b="0">
                <a:solidFill>
                  <a:srgbClr val="232D3C"/>
                </a:solidFill>
                <a:latin typeface="Aptos"/>
              </a:defRPr>
            </a:pPr>
            <a:r>
              <a:t>Guided practice, step-by-step explanations, and peer discussion.</a:t>
            </a:r>
          </a:p>
        </p:txBody>
      </p:sp>
      <p:sp>
        <p:nvSpPr>
          <p:cNvPr id="1048683" name="Rounded Rectangle 17"/>
          <p:cNvSpPr/>
          <p:nvPr/>
        </p:nvSpPr>
        <p:spPr>
          <a:xfrm>
            <a:off x="8046720" y="2148840"/>
            <a:ext cx="3429000" cy="237744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84" name="Rectangle 18"/>
          <p:cNvSpPr/>
          <p:nvPr/>
        </p:nvSpPr>
        <p:spPr>
          <a:xfrm>
            <a:off x="8046720" y="2148840"/>
            <a:ext cx="82296" cy="2377440"/>
          </a:xfrm>
          <a:prstGeom prst="rect">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85" name="TextBox 19"/>
          <p:cNvSpPr txBox="1"/>
          <p:nvPr/>
        </p:nvSpPr>
        <p:spPr>
          <a:xfrm>
            <a:off x="8247888" y="2313432"/>
            <a:ext cx="3044952" cy="345441"/>
          </a:xfrm>
          <a:prstGeom prst="rect">
            <a:avLst/>
          </a:prstGeom>
          <a:noFill/>
        </p:spPr>
        <p:txBody>
          <a:bodyPr wrap="square" lIns="45720" rIns="45720" anchor="t">
            <a:spAutoFit/>
          </a:bodyPr>
          <a:lstStyle/>
          <a:p>
            <a:pPr>
              <a:defRPr sz="1700" b="1">
                <a:solidFill>
                  <a:srgbClr val="142746"/>
                </a:solidFill>
                <a:latin typeface="Aptos"/>
              </a:defRPr>
            </a:pPr>
            <a:r>
              <a:t>Technological Knowledge (TK)</a:t>
            </a:r>
          </a:p>
        </p:txBody>
      </p:sp>
      <p:sp>
        <p:nvSpPr>
          <p:cNvPr id="1048686" name="TextBox 20"/>
          <p:cNvSpPr txBox="1"/>
          <p:nvPr/>
        </p:nvSpPr>
        <p:spPr>
          <a:xfrm>
            <a:off x="8247888" y="2807208"/>
            <a:ext cx="3044952" cy="815340"/>
          </a:xfrm>
          <a:prstGeom prst="rect">
            <a:avLst/>
          </a:prstGeom>
          <a:noFill/>
        </p:spPr>
        <p:txBody>
          <a:bodyPr wrap="square" lIns="45720" rIns="45720" anchor="t">
            <a:spAutoFit/>
          </a:bodyPr>
          <a:lstStyle/>
          <a:p>
            <a:pPr>
              <a:defRPr sz="1600" b="0">
                <a:solidFill>
                  <a:srgbClr val="232D3C"/>
                </a:solidFill>
                <a:latin typeface="Aptos"/>
              </a:defRPr>
            </a:pPr>
            <a:r>
              <a:t>Using Desmos for dynamic graphs and DeltaMath for practice and feedback.</a:t>
            </a:r>
          </a:p>
        </p:txBody>
      </p:sp>
      <p:sp>
        <p:nvSpPr>
          <p:cNvPr id="1048687" name="TextBox 21"/>
          <p:cNvSpPr txBox="1"/>
          <p:nvPr/>
        </p:nvSpPr>
        <p:spPr>
          <a:xfrm>
            <a:off x="822960" y="4892040"/>
            <a:ext cx="2286000" cy="320040"/>
          </a:xfrm>
          <a:prstGeom prst="rect">
            <a:avLst/>
          </a:prstGeom>
          <a:noFill/>
        </p:spPr>
        <p:txBody>
          <a:bodyPr wrap="square" lIns="45720" rIns="45720" anchor="t">
            <a:spAutoFit/>
          </a:bodyPr>
          <a:lstStyle/>
          <a:p>
            <a:pPr>
              <a:defRPr sz="1400" b="1">
                <a:solidFill>
                  <a:srgbClr val="274B7D"/>
                </a:solidFill>
                <a:latin typeface="Aptos"/>
              </a:defRPr>
            </a:pPr>
            <a:r>
              <a:t>Evidence of integration</a:t>
            </a:r>
          </a:p>
        </p:txBody>
      </p:sp>
      <p:sp>
        <p:nvSpPr>
          <p:cNvPr id="1048688" name="TextBox 22"/>
          <p:cNvSpPr txBox="1"/>
          <p:nvPr/>
        </p:nvSpPr>
        <p:spPr>
          <a:xfrm>
            <a:off x="822960" y="5257800"/>
            <a:ext cx="10424160" cy="599440"/>
          </a:xfrm>
          <a:prstGeom prst="rect">
            <a:avLst/>
          </a:prstGeom>
          <a:noFill/>
        </p:spPr>
        <p:txBody>
          <a:bodyPr wrap="square" lIns="45720" rIns="45720" anchor="t">
            <a:spAutoFit/>
          </a:bodyPr>
          <a:lstStyle/>
          <a:p>
            <a:pPr>
              <a:defRPr sz="1700" b="0">
                <a:solidFill>
                  <a:srgbClr val="232D3C"/>
                </a:solidFill>
                <a:latin typeface="Aptos"/>
              </a:defRPr>
            </a:pPr>
            <a:r>
              <a:t>TPK: technology improves feedback and instructional efficiency.</a:t>
            </a:r>
            <a:br/>
            <a:r>
              <a:t>TCK: technology represents and makes mathematical relationships easier to explore.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90"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91"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03 • FRAMEWORKS</a:t>
            </a:r>
          </a:p>
        </p:txBody>
      </p:sp>
      <p:sp>
        <p:nvSpPr>
          <p:cNvPr id="1048692"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Framework Analysis 2: SAMR</a:t>
            </a:r>
          </a:p>
        </p:txBody>
      </p:sp>
      <p:sp>
        <p:nvSpPr>
          <p:cNvPr id="1048693"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94"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07</a:t>
            </a:r>
          </a:p>
        </p:txBody>
      </p:sp>
      <p:sp>
        <p:nvSpPr>
          <p:cNvPr id="1048695"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696" name="Rounded Rectangle 8"/>
          <p:cNvSpPr/>
          <p:nvPr/>
        </p:nvSpPr>
        <p:spPr>
          <a:xfrm>
            <a:off x="731520" y="1874519"/>
            <a:ext cx="2514600" cy="2240280"/>
          </a:xfrm>
          <a:prstGeom prst="roundRect">
            <a:avLst/>
          </a:prstGeom>
          <a:solidFill>
            <a:srgbClr val="FFFFFF"/>
          </a:solidFill>
          <a:ln w="12700">
            <a:solidFill>
              <a:srgbClr val="274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697" name="TextBox 9"/>
          <p:cNvSpPr txBox="1"/>
          <p:nvPr/>
        </p:nvSpPr>
        <p:spPr>
          <a:xfrm>
            <a:off x="868680" y="2029968"/>
            <a:ext cx="2240280" cy="535940"/>
          </a:xfrm>
          <a:prstGeom prst="rect">
            <a:avLst/>
          </a:prstGeom>
          <a:noFill/>
        </p:spPr>
        <p:txBody>
          <a:bodyPr wrap="square" lIns="45720" rIns="45720" anchor="t">
            <a:spAutoFit/>
          </a:bodyPr>
          <a:lstStyle/>
          <a:p>
            <a:pPr algn="ctr">
              <a:defRPr sz="3000" b="1">
                <a:solidFill>
                  <a:srgbClr val="274B7D"/>
                </a:solidFill>
                <a:latin typeface="Aptos"/>
              </a:defRPr>
            </a:pPr>
            <a:r>
              <a:t>S</a:t>
            </a:r>
          </a:p>
        </p:txBody>
      </p:sp>
      <p:sp>
        <p:nvSpPr>
          <p:cNvPr id="1048698" name="TextBox 10"/>
          <p:cNvSpPr txBox="1"/>
          <p:nvPr/>
        </p:nvSpPr>
        <p:spPr>
          <a:xfrm>
            <a:off x="841248" y="2724912"/>
            <a:ext cx="2286000" cy="332740"/>
          </a:xfrm>
          <a:prstGeom prst="rect">
            <a:avLst/>
          </a:prstGeom>
          <a:noFill/>
        </p:spPr>
        <p:txBody>
          <a:bodyPr wrap="square" lIns="45720" rIns="45720" anchor="t">
            <a:spAutoFit/>
          </a:bodyPr>
          <a:lstStyle/>
          <a:p>
            <a:pPr algn="ctr">
              <a:defRPr sz="1600" b="1">
                <a:solidFill>
                  <a:srgbClr val="142746"/>
                </a:solidFill>
                <a:latin typeface="Aptos"/>
              </a:defRPr>
            </a:pPr>
            <a:r>
              <a:t>Substitution</a:t>
            </a:r>
          </a:p>
        </p:txBody>
      </p:sp>
      <p:sp>
        <p:nvSpPr>
          <p:cNvPr id="1048699" name="TextBox 11"/>
          <p:cNvSpPr txBox="1"/>
          <p:nvPr/>
        </p:nvSpPr>
        <p:spPr>
          <a:xfrm>
            <a:off x="914400" y="3200400"/>
            <a:ext cx="2148840" cy="447040"/>
          </a:xfrm>
          <a:prstGeom prst="rect">
            <a:avLst/>
          </a:prstGeom>
          <a:noFill/>
        </p:spPr>
        <p:txBody>
          <a:bodyPr wrap="square" lIns="45720" rIns="45720" anchor="t">
            <a:spAutoFit/>
          </a:bodyPr>
          <a:lstStyle/>
          <a:p>
            <a:pPr algn="ctr">
              <a:defRPr sz="1200" b="0">
                <a:solidFill>
                  <a:srgbClr val="232D3C"/>
                </a:solidFill>
                <a:latin typeface="Aptos"/>
              </a:defRPr>
            </a:pPr>
            <a:r>
              <a:t>Technology replaces a traditional tool.</a:t>
            </a:r>
          </a:p>
        </p:txBody>
      </p:sp>
      <p:sp>
        <p:nvSpPr>
          <p:cNvPr id="1048700" name="Rounded Rectangle 12"/>
          <p:cNvSpPr/>
          <p:nvPr/>
        </p:nvSpPr>
        <p:spPr>
          <a:xfrm>
            <a:off x="3547872" y="1874519"/>
            <a:ext cx="2514600" cy="2240280"/>
          </a:xfrm>
          <a:prstGeom prst="roundRect">
            <a:avLst/>
          </a:prstGeom>
          <a:solidFill>
            <a:srgbClr val="FFFFFF"/>
          </a:solidFill>
          <a:ln w="12700">
            <a:solidFill>
              <a:srgbClr val="274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01" name="TextBox 13"/>
          <p:cNvSpPr txBox="1"/>
          <p:nvPr/>
        </p:nvSpPr>
        <p:spPr>
          <a:xfrm>
            <a:off x="3685032" y="2029968"/>
            <a:ext cx="2240280" cy="535940"/>
          </a:xfrm>
          <a:prstGeom prst="rect">
            <a:avLst/>
          </a:prstGeom>
          <a:noFill/>
        </p:spPr>
        <p:txBody>
          <a:bodyPr wrap="square" lIns="45720" rIns="45720" anchor="t">
            <a:spAutoFit/>
          </a:bodyPr>
          <a:lstStyle/>
          <a:p>
            <a:pPr algn="ctr">
              <a:defRPr sz="3000" b="1">
                <a:solidFill>
                  <a:srgbClr val="274B7D"/>
                </a:solidFill>
                <a:latin typeface="Aptos"/>
              </a:defRPr>
            </a:pPr>
            <a:r>
              <a:t>A</a:t>
            </a:r>
          </a:p>
        </p:txBody>
      </p:sp>
      <p:sp>
        <p:nvSpPr>
          <p:cNvPr id="1048702" name="TextBox 14"/>
          <p:cNvSpPr txBox="1"/>
          <p:nvPr/>
        </p:nvSpPr>
        <p:spPr>
          <a:xfrm>
            <a:off x="3657600" y="2724912"/>
            <a:ext cx="2286000" cy="332740"/>
          </a:xfrm>
          <a:prstGeom prst="rect">
            <a:avLst/>
          </a:prstGeom>
          <a:noFill/>
        </p:spPr>
        <p:txBody>
          <a:bodyPr wrap="square" lIns="45720" rIns="45720" anchor="t">
            <a:spAutoFit/>
          </a:bodyPr>
          <a:lstStyle/>
          <a:p>
            <a:pPr algn="ctr">
              <a:defRPr sz="1600" b="1">
                <a:solidFill>
                  <a:srgbClr val="142746"/>
                </a:solidFill>
                <a:latin typeface="Aptos"/>
              </a:defRPr>
            </a:pPr>
            <a:r>
              <a:t>Augmentation</a:t>
            </a:r>
          </a:p>
        </p:txBody>
      </p:sp>
      <p:sp>
        <p:nvSpPr>
          <p:cNvPr id="1048703" name="TextBox 15"/>
          <p:cNvSpPr txBox="1"/>
          <p:nvPr/>
        </p:nvSpPr>
        <p:spPr>
          <a:xfrm>
            <a:off x="3730752" y="3200400"/>
            <a:ext cx="2148840" cy="447040"/>
          </a:xfrm>
          <a:prstGeom prst="rect">
            <a:avLst/>
          </a:prstGeom>
          <a:noFill/>
        </p:spPr>
        <p:txBody>
          <a:bodyPr wrap="square" lIns="45720" rIns="45720" anchor="t">
            <a:spAutoFit/>
          </a:bodyPr>
          <a:lstStyle/>
          <a:p>
            <a:pPr algn="ctr">
              <a:defRPr sz="1200" b="0">
                <a:solidFill>
                  <a:srgbClr val="232D3C"/>
                </a:solidFill>
                <a:latin typeface="Aptos"/>
              </a:defRPr>
            </a:pPr>
            <a:r>
              <a:t>Technology adds functional improvement.</a:t>
            </a:r>
          </a:p>
        </p:txBody>
      </p:sp>
      <p:sp>
        <p:nvSpPr>
          <p:cNvPr id="1048704" name="Rounded Rectangle 16"/>
          <p:cNvSpPr/>
          <p:nvPr/>
        </p:nvSpPr>
        <p:spPr>
          <a:xfrm>
            <a:off x="6364224" y="1874519"/>
            <a:ext cx="2514600" cy="2240280"/>
          </a:xfrm>
          <a:prstGeom prst="roundRect">
            <a:avLst/>
          </a:prstGeom>
          <a:solidFill>
            <a:srgbClr val="FAF4E5"/>
          </a:solidFill>
          <a:ln w="27940">
            <a:solidFill>
              <a:srgbClr val="CAA3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05" name="TextBox 17"/>
          <p:cNvSpPr txBox="1"/>
          <p:nvPr/>
        </p:nvSpPr>
        <p:spPr>
          <a:xfrm>
            <a:off x="6501384" y="2029968"/>
            <a:ext cx="2240280" cy="535940"/>
          </a:xfrm>
          <a:prstGeom prst="rect">
            <a:avLst/>
          </a:prstGeom>
          <a:noFill/>
        </p:spPr>
        <p:txBody>
          <a:bodyPr wrap="square" lIns="45720" rIns="45720" anchor="t">
            <a:spAutoFit/>
          </a:bodyPr>
          <a:lstStyle/>
          <a:p>
            <a:pPr algn="ctr">
              <a:defRPr sz="3000" b="1">
                <a:solidFill>
                  <a:srgbClr val="CAA352"/>
                </a:solidFill>
                <a:latin typeface="Aptos"/>
              </a:defRPr>
            </a:pPr>
            <a:r>
              <a:t>M</a:t>
            </a:r>
          </a:p>
        </p:txBody>
      </p:sp>
      <p:sp>
        <p:nvSpPr>
          <p:cNvPr id="1048706" name="TextBox 18"/>
          <p:cNvSpPr txBox="1"/>
          <p:nvPr/>
        </p:nvSpPr>
        <p:spPr>
          <a:xfrm>
            <a:off x="6473952" y="2724912"/>
            <a:ext cx="2286000" cy="332740"/>
          </a:xfrm>
          <a:prstGeom prst="rect">
            <a:avLst/>
          </a:prstGeom>
          <a:noFill/>
        </p:spPr>
        <p:txBody>
          <a:bodyPr wrap="square" lIns="45720" rIns="45720" anchor="t">
            <a:spAutoFit/>
          </a:bodyPr>
          <a:lstStyle/>
          <a:p>
            <a:pPr algn="ctr">
              <a:defRPr sz="1600" b="1">
                <a:solidFill>
                  <a:srgbClr val="142746"/>
                </a:solidFill>
                <a:latin typeface="Aptos"/>
              </a:defRPr>
            </a:pPr>
            <a:r>
              <a:t>Modification</a:t>
            </a:r>
          </a:p>
        </p:txBody>
      </p:sp>
      <p:sp>
        <p:nvSpPr>
          <p:cNvPr id="1048707" name="TextBox 19"/>
          <p:cNvSpPr txBox="1"/>
          <p:nvPr/>
        </p:nvSpPr>
        <p:spPr>
          <a:xfrm>
            <a:off x="6547104" y="3200400"/>
            <a:ext cx="2148840" cy="447040"/>
          </a:xfrm>
          <a:prstGeom prst="rect">
            <a:avLst/>
          </a:prstGeom>
          <a:noFill/>
        </p:spPr>
        <p:txBody>
          <a:bodyPr wrap="square" lIns="45720" rIns="45720" anchor="t">
            <a:spAutoFit/>
          </a:bodyPr>
          <a:lstStyle/>
          <a:p>
            <a:pPr algn="ctr">
              <a:defRPr sz="1200" b="0">
                <a:solidFill>
                  <a:srgbClr val="232D3C"/>
                </a:solidFill>
                <a:latin typeface="Aptos"/>
              </a:defRPr>
            </a:pPr>
            <a:r>
              <a:t>Technology substantially redesigns the task.</a:t>
            </a:r>
          </a:p>
        </p:txBody>
      </p:sp>
      <p:sp>
        <p:nvSpPr>
          <p:cNvPr id="1048708" name="Rounded Rectangle 20"/>
          <p:cNvSpPr/>
          <p:nvPr/>
        </p:nvSpPr>
        <p:spPr>
          <a:xfrm>
            <a:off x="9180576" y="1874519"/>
            <a:ext cx="2514600" cy="2240280"/>
          </a:xfrm>
          <a:prstGeom prst="roundRect">
            <a:avLst/>
          </a:prstGeom>
          <a:solidFill>
            <a:srgbClr val="FFFFFF"/>
          </a:solidFill>
          <a:ln w="12700">
            <a:solidFill>
              <a:srgbClr val="96A0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09" name="TextBox 21"/>
          <p:cNvSpPr txBox="1"/>
          <p:nvPr/>
        </p:nvSpPr>
        <p:spPr>
          <a:xfrm>
            <a:off x="9317736" y="2029968"/>
            <a:ext cx="2240280" cy="535940"/>
          </a:xfrm>
          <a:prstGeom prst="rect">
            <a:avLst/>
          </a:prstGeom>
          <a:noFill/>
        </p:spPr>
        <p:txBody>
          <a:bodyPr wrap="square" lIns="45720" rIns="45720" anchor="t">
            <a:spAutoFit/>
          </a:bodyPr>
          <a:lstStyle/>
          <a:p>
            <a:pPr algn="ctr">
              <a:defRPr sz="3000" b="1">
                <a:solidFill>
                  <a:srgbClr val="96A0AE"/>
                </a:solidFill>
                <a:latin typeface="Aptos"/>
              </a:defRPr>
            </a:pPr>
            <a:r>
              <a:t>R</a:t>
            </a:r>
          </a:p>
        </p:txBody>
      </p:sp>
      <p:sp>
        <p:nvSpPr>
          <p:cNvPr id="1048710" name="TextBox 22"/>
          <p:cNvSpPr txBox="1"/>
          <p:nvPr/>
        </p:nvSpPr>
        <p:spPr>
          <a:xfrm>
            <a:off x="9290304" y="2724912"/>
            <a:ext cx="2286000" cy="332740"/>
          </a:xfrm>
          <a:prstGeom prst="rect">
            <a:avLst/>
          </a:prstGeom>
          <a:noFill/>
        </p:spPr>
        <p:txBody>
          <a:bodyPr wrap="square" lIns="45720" rIns="45720" anchor="t">
            <a:spAutoFit/>
          </a:bodyPr>
          <a:lstStyle/>
          <a:p>
            <a:pPr algn="ctr">
              <a:defRPr sz="1600" b="1">
                <a:solidFill>
                  <a:srgbClr val="142746"/>
                </a:solidFill>
                <a:latin typeface="Aptos"/>
              </a:defRPr>
            </a:pPr>
            <a:r>
              <a:t>Redefinition</a:t>
            </a:r>
          </a:p>
        </p:txBody>
      </p:sp>
      <p:sp>
        <p:nvSpPr>
          <p:cNvPr id="1048711" name="TextBox 23"/>
          <p:cNvSpPr txBox="1"/>
          <p:nvPr/>
        </p:nvSpPr>
        <p:spPr>
          <a:xfrm>
            <a:off x="9363456" y="3200400"/>
            <a:ext cx="2148840" cy="447040"/>
          </a:xfrm>
          <a:prstGeom prst="rect">
            <a:avLst/>
          </a:prstGeom>
          <a:noFill/>
        </p:spPr>
        <p:txBody>
          <a:bodyPr wrap="square" lIns="45720" rIns="45720" anchor="t">
            <a:spAutoFit/>
          </a:bodyPr>
          <a:lstStyle/>
          <a:p>
            <a:pPr algn="ctr">
              <a:defRPr sz="1200" b="0">
                <a:solidFill>
                  <a:srgbClr val="232D3C"/>
                </a:solidFill>
                <a:latin typeface="Aptos"/>
              </a:defRPr>
            </a:pPr>
            <a:r>
              <a:t>Technology enables tasks previously difficult to achieve.</a:t>
            </a:r>
          </a:p>
        </p:txBody>
      </p:sp>
      <p:sp>
        <p:nvSpPr>
          <p:cNvPr id="1048712" name="TextBox 24"/>
          <p:cNvSpPr txBox="1"/>
          <p:nvPr/>
        </p:nvSpPr>
        <p:spPr>
          <a:xfrm>
            <a:off x="822960" y="4526280"/>
            <a:ext cx="3840480" cy="365760"/>
          </a:xfrm>
          <a:prstGeom prst="rect">
            <a:avLst/>
          </a:prstGeom>
          <a:noFill/>
        </p:spPr>
        <p:txBody>
          <a:bodyPr wrap="square" lIns="45720" rIns="45720" anchor="t">
            <a:spAutoFit/>
          </a:bodyPr>
          <a:lstStyle/>
          <a:p>
            <a:pPr>
              <a:defRPr sz="1700" b="1">
                <a:solidFill>
                  <a:srgbClr val="CAA352"/>
                </a:solidFill>
                <a:latin typeface="Aptos"/>
              </a:defRPr>
            </a:pPr>
            <a:r>
              <a:t>Applied level: MODIFICATION</a:t>
            </a:r>
          </a:p>
        </p:txBody>
      </p:sp>
      <p:sp>
        <p:nvSpPr>
          <p:cNvPr id="1048713" name="TextBox 25"/>
          <p:cNvSpPr txBox="1"/>
          <p:nvPr/>
        </p:nvSpPr>
        <p:spPr>
          <a:xfrm>
            <a:off x="822960" y="4937760"/>
            <a:ext cx="10515600" cy="853440"/>
          </a:xfrm>
          <a:prstGeom prst="rect">
            <a:avLst/>
          </a:prstGeom>
          <a:noFill/>
        </p:spPr>
        <p:txBody>
          <a:bodyPr wrap="square" lIns="45720" rIns="45720" anchor="t">
            <a:spAutoFit/>
          </a:bodyPr>
          <a:lstStyle/>
          <a:p>
            <a:pPr>
              <a:defRPr sz="1700" b="0">
                <a:solidFill>
                  <a:srgbClr val="232D3C"/>
                </a:solidFill>
                <a:latin typeface="Aptos"/>
              </a:defRPr>
            </a:pPr>
            <a:r>
              <a:t>The Desmos task can be classified as Modification when students actively manipulate equations to investigate graph transformations, substantially changing the learning process. Confirm that the activity involved this level of exploration.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15"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16"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04 • PRACTICE</a:t>
            </a:r>
          </a:p>
        </p:txBody>
      </p:sp>
      <p:sp>
        <p:nvSpPr>
          <p:cNvPr id="1048717"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Constraints and Teacher Responses</a:t>
            </a:r>
          </a:p>
        </p:txBody>
      </p:sp>
      <p:sp>
        <p:nvSpPr>
          <p:cNvPr id="1048718"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19"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08</a:t>
            </a:r>
          </a:p>
        </p:txBody>
      </p:sp>
      <p:sp>
        <p:nvSpPr>
          <p:cNvPr id="1048720"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721" name="Rectangle 8"/>
          <p:cNvSpPr/>
          <p:nvPr/>
        </p:nvSpPr>
        <p:spPr>
          <a:xfrm>
            <a:off x="777240" y="1645920"/>
            <a:ext cx="3246120" cy="502920"/>
          </a:xfrm>
          <a:prstGeom prst="rect">
            <a:avLst/>
          </a:prstGeom>
          <a:solidFill>
            <a:srgbClr val="14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22" name="TextBox 9"/>
          <p:cNvSpPr txBox="1"/>
          <p:nvPr/>
        </p:nvSpPr>
        <p:spPr>
          <a:xfrm>
            <a:off x="886968" y="1755648"/>
            <a:ext cx="3063239" cy="274320"/>
          </a:xfrm>
          <a:prstGeom prst="rect">
            <a:avLst/>
          </a:prstGeom>
          <a:noFill/>
        </p:spPr>
        <p:txBody>
          <a:bodyPr wrap="square" lIns="45720" rIns="45720" anchor="t">
            <a:spAutoFit/>
          </a:bodyPr>
          <a:lstStyle/>
          <a:p>
            <a:pPr>
              <a:defRPr sz="1200" b="1">
                <a:solidFill>
                  <a:srgbClr val="FFFFFF"/>
                </a:solidFill>
                <a:latin typeface="Aptos"/>
              </a:defRPr>
            </a:pPr>
            <a:r>
              <a:t>CONSTRAINT</a:t>
            </a:r>
          </a:p>
        </p:txBody>
      </p:sp>
      <p:sp>
        <p:nvSpPr>
          <p:cNvPr id="1048723" name="Rectangle 10"/>
          <p:cNvSpPr/>
          <p:nvPr/>
        </p:nvSpPr>
        <p:spPr>
          <a:xfrm>
            <a:off x="4023359" y="1645920"/>
            <a:ext cx="7452360" cy="502920"/>
          </a:xfrm>
          <a:prstGeom prst="rect">
            <a:avLst/>
          </a:prstGeom>
          <a:solidFill>
            <a:srgbClr val="14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24" name="TextBox 11"/>
          <p:cNvSpPr txBox="1"/>
          <p:nvPr/>
        </p:nvSpPr>
        <p:spPr>
          <a:xfrm>
            <a:off x="4133087" y="1755648"/>
            <a:ext cx="7269480" cy="274320"/>
          </a:xfrm>
          <a:prstGeom prst="rect">
            <a:avLst/>
          </a:prstGeom>
          <a:noFill/>
        </p:spPr>
        <p:txBody>
          <a:bodyPr wrap="square" lIns="45720" rIns="45720" anchor="t">
            <a:spAutoFit/>
          </a:bodyPr>
          <a:lstStyle/>
          <a:p>
            <a:pPr>
              <a:defRPr sz="1200" b="1">
                <a:solidFill>
                  <a:srgbClr val="FFFFFF"/>
                </a:solidFill>
                <a:latin typeface="Aptos"/>
              </a:defRPr>
            </a:pPr>
            <a:r>
              <a:t>TEACHER RESPONSE</a:t>
            </a:r>
          </a:p>
        </p:txBody>
      </p:sp>
      <p:sp>
        <p:nvSpPr>
          <p:cNvPr id="1048725" name="Rectangle 12"/>
          <p:cNvSpPr/>
          <p:nvPr/>
        </p:nvSpPr>
        <p:spPr>
          <a:xfrm>
            <a:off x="777240" y="2148840"/>
            <a:ext cx="324612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26" name="TextBox 13"/>
          <p:cNvSpPr txBox="1"/>
          <p:nvPr/>
        </p:nvSpPr>
        <p:spPr>
          <a:xfrm>
            <a:off x="886968" y="2267712"/>
            <a:ext cx="3017520" cy="294640"/>
          </a:xfrm>
          <a:prstGeom prst="rect">
            <a:avLst/>
          </a:prstGeom>
          <a:noFill/>
        </p:spPr>
        <p:txBody>
          <a:bodyPr wrap="square" lIns="45720" rIns="45720" anchor="t">
            <a:spAutoFit/>
          </a:bodyPr>
          <a:lstStyle/>
          <a:p>
            <a:pPr>
              <a:defRPr sz="1400" b="1">
                <a:solidFill>
                  <a:srgbClr val="232D3C"/>
                </a:solidFill>
                <a:latin typeface="Aptos"/>
              </a:defRPr>
            </a:pPr>
            <a:r>
              <a:t>Limited or unsuitable resources</a:t>
            </a:r>
          </a:p>
        </p:txBody>
      </p:sp>
      <p:sp>
        <p:nvSpPr>
          <p:cNvPr id="1048727" name="Rectangle 14"/>
          <p:cNvSpPr/>
          <p:nvPr/>
        </p:nvSpPr>
        <p:spPr>
          <a:xfrm>
            <a:off x="4023359" y="2148840"/>
            <a:ext cx="745236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28" name="TextBox 15"/>
          <p:cNvSpPr txBox="1"/>
          <p:nvPr/>
        </p:nvSpPr>
        <p:spPr>
          <a:xfrm>
            <a:off x="4133087" y="2267712"/>
            <a:ext cx="7223760" cy="294640"/>
          </a:xfrm>
          <a:prstGeom prst="rect">
            <a:avLst/>
          </a:prstGeom>
          <a:noFill/>
        </p:spPr>
        <p:txBody>
          <a:bodyPr wrap="square" lIns="45720" rIns="45720" anchor="t">
            <a:spAutoFit/>
          </a:bodyPr>
          <a:lstStyle/>
          <a:p>
            <a:pPr>
              <a:defRPr sz="1400" b="0">
                <a:solidFill>
                  <a:srgbClr val="232D3C"/>
                </a:solidFill>
                <a:latin typeface="Aptos"/>
              </a:defRPr>
            </a:pPr>
            <a:r>
              <a:t>Select accessible tools that align with lesson objectives.</a:t>
            </a:r>
          </a:p>
        </p:txBody>
      </p:sp>
      <p:sp>
        <p:nvSpPr>
          <p:cNvPr id="1048729" name="Rectangle 16"/>
          <p:cNvSpPr/>
          <p:nvPr/>
        </p:nvSpPr>
        <p:spPr>
          <a:xfrm>
            <a:off x="777240" y="2916936"/>
            <a:ext cx="3246120" cy="768096"/>
          </a:xfrm>
          <a:prstGeom prst="rect">
            <a:avLst/>
          </a:prstGeom>
          <a:solidFill>
            <a:srgbClr val="EBF0F6"/>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30" name="TextBox 17"/>
          <p:cNvSpPr txBox="1"/>
          <p:nvPr/>
        </p:nvSpPr>
        <p:spPr>
          <a:xfrm>
            <a:off x="886968" y="3035808"/>
            <a:ext cx="3017520" cy="294640"/>
          </a:xfrm>
          <a:prstGeom prst="rect">
            <a:avLst/>
          </a:prstGeom>
          <a:noFill/>
        </p:spPr>
        <p:txBody>
          <a:bodyPr wrap="square" lIns="45720" rIns="45720" anchor="t">
            <a:spAutoFit/>
          </a:bodyPr>
          <a:lstStyle/>
          <a:p>
            <a:pPr>
              <a:defRPr sz="1400" b="1">
                <a:solidFill>
                  <a:srgbClr val="232D3C"/>
                </a:solidFill>
                <a:latin typeface="Aptos"/>
              </a:defRPr>
            </a:pPr>
            <a:r>
              <a:t>Limited devices, internet, or electricity</a:t>
            </a:r>
          </a:p>
        </p:txBody>
      </p:sp>
      <p:sp>
        <p:nvSpPr>
          <p:cNvPr id="1048731" name="Rectangle 18"/>
          <p:cNvSpPr/>
          <p:nvPr/>
        </p:nvSpPr>
        <p:spPr>
          <a:xfrm>
            <a:off x="4023359" y="2916936"/>
            <a:ext cx="7452360" cy="768096"/>
          </a:xfrm>
          <a:prstGeom prst="rect">
            <a:avLst/>
          </a:prstGeom>
          <a:solidFill>
            <a:srgbClr val="EBF0F6"/>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32" name="TextBox 19"/>
          <p:cNvSpPr txBox="1"/>
          <p:nvPr/>
        </p:nvSpPr>
        <p:spPr>
          <a:xfrm>
            <a:off x="4133087" y="3035808"/>
            <a:ext cx="7223760" cy="294640"/>
          </a:xfrm>
          <a:prstGeom prst="rect">
            <a:avLst/>
          </a:prstGeom>
          <a:noFill/>
        </p:spPr>
        <p:txBody>
          <a:bodyPr wrap="square" lIns="45720" rIns="45720" anchor="t">
            <a:spAutoFit/>
          </a:bodyPr>
          <a:lstStyle/>
          <a:p>
            <a:pPr>
              <a:defRPr sz="1400" b="0">
                <a:solidFill>
                  <a:srgbClr val="232D3C"/>
                </a:solidFill>
                <a:latin typeface="Aptos"/>
              </a:defRPr>
            </a:pPr>
            <a:r>
              <a:t>Provide printed worksheets and in-class work time.</a:t>
            </a:r>
          </a:p>
        </p:txBody>
      </p:sp>
      <p:sp>
        <p:nvSpPr>
          <p:cNvPr id="1048733" name="Rectangle 20"/>
          <p:cNvSpPr/>
          <p:nvPr/>
        </p:nvSpPr>
        <p:spPr>
          <a:xfrm>
            <a:off x="777240" y="3685032"/>
            <a:ext cx="324612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34" name="TextBox 21"/>
          <p:cNvSpPr txBox="1"/>
          <p:nvPr/>
        </p:nvSpPr>
        <p:spPr>
          <a:xfrm>
            <a:off x="886968" y="3803904"/>
            <a:ext cx="3017520" cy="294640"/>
          </a:xfrm>
          <a:prstGeom prst="rect">
            <a:avLst/>
          </a:prstGeom>
          <a:noFill/>
        </p:spPr>
        <p:txBody>
          <a:bodyPr wrap="square" lIns="45720" rIns="45720" anchor="t">
            <a:spAutoFit/>
          </a:bodyPr>
          <a:lstStyle/>
          <a:p>
            <a:pPr>
              <a:defRPr sz="1400" b="1">
                <a:solidFill>
                  <a:srgbClr val="232D3C"/>
                </a:solidFill>
                <a:latin typeface="Aptos"/>
              </a:defRPr>
            </a:pPr>
            <a:r>
              <a:t>Risk of technology dependence</a:t>
            </a:r>
          </a:p>
        </p:txBody>
      </p:sp>
      <p:sp>
        <p:nvSpPr>
          <p:cNvPr id="1048735" name="Rectangle 22"/>
          <p:cNvSpPr/>
          <p:nvPr/>
        </p:nvSpPr>
        <p:spPr>
          <a:xfrm>
            <a:off x="4023359" y="3685032"/>
            <a:ext cx="745236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36" name="TextBox 23"/>
          <p:cNvSpPr txBox="1"/>
          <p:nvPr/>
        </p:nvSpPr>
        <p:spPr>
          <a:xfrm>
            <a:off x="4133087" y="3803904"/>
            <a:ext cx="7223760" cy="294640"/>
          </a:xfrm>
          <a:prstGeom prst="rect">
            <a:avLst/>
          </a:prstGeom>
          <a:noFill/>
        </p:spPr>
        <p:txBody>
          <a:bodyPr wrap="square" lIns="45720" rIns="45720" anchor="t">
            <a:spAutoFit/>
          </a:bodyPr>
          <a:lstStyle/>
          <a:p>
            <a:pPr>
              <a:defRPr sz="1400" b="0">
                <a:solidFill>
                  <a:srgbClr val="232D3C"/>
                </a:solidFill>
                <a:latin typeface="Aptos"/>
              </a:defRPr>
            </a:pPr>
            <a:r>
              <a:t>Require step-by-step solutions and peer explanations.</a:t>
            </a:r>
          </a:p>
        </p:txBody>
      </p:sp>
      <p:sp>
        <p:nvSpPr>
          <p:cNvPr id="1048737" name="Rectangle 24"/>
          <p:cNvSpPr/>
          <p:nvPr/>
        </p:nvSpPr>
        <p:spPr>
          <a:xfrm>
            <a:off x="777240" y="4453128"/>
            <a:ext cx="3246120" cy="768096"/>
          </a:xfrm>
          <a:prstGeom prst="rect">
            <a:avLst/>
          </a:prstGeom>
          <a:solidFill>
            <a:srgbClr val="EBF0F6"/>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38" name="TextBox 25"/>
          <p:cNvSpPr txBox="1"/>
          <p:nvPr/>
        </p:nvSpPr>
        <p:spPr>
          <a:xfrm>
            <a:off x="886968" y="4572000"/>
            <a:ext cx="3017520" cy="294640"/>
          </a:xfrm>
          <a:prstGeom prst="rect">
            <a:avLst/>
          </a:prstGeom>
          <a:noFill/>
        </p:spPr>
        <p:txBody>
          <a:bodyPr wrap="square" lIns="45720" rIns="45720" anchor="t">
            <a:spAutoFit/>
          </a:bodyPr>
          <a:lstStyle/>
          <a:p>
            <a:pPr>
              <a:defRPr sz="1400" b="1">
                <a:solidFill>
                  <a:srgbClr val="232D3C"/>
                </a:solidFill>
                <a:latin typeface="Aptos"/>
              </a:defRPr>
            </a:pPr>
            <a:r>
              <a:t>Uncertain learning gains</a:t>
            </a:r>
          </a:p>
        </p:txBody>
      </p:sp>
      <p:sp>
        <p:nvSpPr>
          <p:cNvPr id="1048739" name="Rectangle 26"/>
          <p:cNvSpPr/>
          <p:nvPr/>
        </p:nvSpPr>
        <p:spPr>
          <a:xfrm>
            <a:off x="4023359" y="4453128"/>
            <a:ext cx="7452360" cy="768096"/>
          </a:xfrm>
          <a:prstGeom prst="rect">
            <a:avLst/>
          </a:prstGeom>
          <a:solidFill>
            <a:srgbClr val="EBF0F6"/>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40" name="TextBox 27"/>
          <p:cNvSpPr txBox="1"/>
          <p:nvPr/>
        </p:nvSpPr>
        <p:spPr>
          <a:xfrm>
            <a:off x="4133087" y="4572000"/>
            <a:ext cx="7223760" cy="294640"/>
          </a:xfrm>
          <a:prstGeom prst="rect">
            <a:avLst/>
          </a:prstGeom>
          <a:noFill/>
        </p:spPr>
        <p:txBody>
          <a:bodyPr wrap="square" lIns="45720" rIns="45720" anchor="t">
            <a:spAutoFit/>
          </a:bodyPr>
          <a:lstStyle/>
          <a:p>
            <a:pPr>
              <a:defRPr sz="1400" b="0">
                <a:solidFill>
                  <a:srgbClr val="232D3C"/>
                </a:solidFill>
                <a:latin typeface="Aptos"/>
              </a:defRPr>
            </a:pPr>
            <a:r>
              <a:t>Compare assessment results and check independent problem-solving.</a:t>
            </a:r>
          </a:p>
        </p:txBody>
      </p:sp>
      <p:sp>
        <p:nvSpPr>
          <p:cNvPr id="1048741" name="Rectangle 28"/>
          <p:cNvSpPr/>
          <p:nvPr/>
        </p:nvSpPr>
        <p:spPr>
          <a:xfrm>
            <a:off x="777240" y="5221224"/>
            <a:ext cx="324612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42" name="TextBox 29"/>
          <p:cNvSpPr txBox="1"/>
          <p:nvPr/>
        </p:nvSpPr>
        <p:spPr>
          <a:xfrm>
            <a:off x="886968" y="5340096"/>
            <a:ext cx="3017520" cy="294641"/>
          </a:xfrm>
          <a:prstGeom prst="rect">
            <a:avLst/>
          </a:prstGeom>
          <a:noFill/>
        </p:spPr>
        <p:txBody>
          <a:bodyPr wrap="square" lIns="45720" rIns="45720" anchor="t">
            <a:spAutoFit/>
          </a:bodyPr>
          <a:lstStyle/>
          <a:p>
            <a:pPr>
              <a:defRPr sz="1400" b="1">
                <a:solidFill>
                  <a:srgbClr val="232D3C"/>
                </a:solidFill>
                <a:latin typeface="Aptos"/>
              </a:defRPr>
            </a:pPr>
            <a:r>
              <a:t>Difficulty visualizing concepts</a:t>
            </a:r>
          </a:p>
        </p:txBody>
      </p:sp>
      <p:sp>
        <p:nvSpPr>
          <p:cNvPr id="1048743" name="Rectangle 30"/>
          <p:cNvSpPr/>
          <p:nvPr/>
        </p:nvSpPr>
        <p:spPr>
          <a:xfrm>
            <a:off x="4023359" y="5221224"/>
            <a:ext cx="7452360" cy="768096"/>
          </a:xfrm>
          <a:prstGeom prst="rect">
            <a:avLst/>
          </a:prstGeom>
          <a:solidFill>
            <a:srgbClr val="FFFFFF"/>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44" name="TextBox 31"/>
          <p:cNvSpPr txBox="1"/>
          <p:nvPr/>
        </p:nvSpPr>
        <p:spPr>
          <a:xfrm>
            <a:off x="4133087" y="5340096"/>
            <a:ext cx="7223760" cy="294641"/>
          </a:xfrm>
          <a:prstGeom prst="rect">
            <a:avLst/>
          </a:prstGeom>
          <a:noFill/>
        </p:spPr>
        <p:txBody>
          <a:bodyPr wrap="square" lIns="45720" rIns="45720" anchor="t">
            <a:spAutoFit/>
          </a:bodyPr>
          <a:lstStyle/>
          <a:p>
            <a:pPr>
              <a:defRPr sz="1400" b="0">
                <a:solidFill>
                  <a:srgbClr val="232D3C"/>
                </a:solidFill>
                <a:latin typeface="Aptos"/>
              </a:defRPr>
            </a:pPr>
            <a:r>
              <a:t>Use interactive tools to explore mathematical relationships.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46"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47"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04 • PRACTICE</a:t>
            </a:r>
          </a:p>
        </p:txBody>
      </p:sp>
      <p:sp>
        <p:nvSpPr>
          <p:cNvPr id="1048748"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Lessons for Beginning Mathematics Teachers</a:t>
            </a:r>
          </a:p>
        </p:txBody>
      </p:sp>
      <p:sp>
        <p:nvSpPr>
          <p:cNvPr id="1048749"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50"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09</a:t>
            </a:r>
          </a:p>
        </p:txBody>
      </p:sp>
      <p:sp>
        <p:nvSpPr>
          <p:cNvPr id="1048751"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752" name="TextBox 8"/>
          <p:cNvSpPr txBox="1"/>
          <p:nvPr/>
        </p:nvSpPr>
        <p:spPr>
          <a:xfrm>
            <a:off x="777240" y="1691640"/>
            <a:ext cx="502920" cy="396240"/>
          </a:xfrm>
          <a:prstGeom prst="rect">
            <a:avLst/>
          </a:prstGeom>
          <a:noFill/>
        </p:spPr>
        <p:txBody>
          <a:bodyPr wrap="square" lIns="45720" rIns="45720" anchor="t">
            <a:spAutoFit/>
          </a:bodyPr>
          <a:lstStyle/>
          <a:p>
            <a:pPr>
              <a:defRPr sz="2000" b="1">
                <a:solidFill>
                  <a:srgbClr val="CAA352"/>
                </a:solidFill>
                <a:latin typeface="Aptos"/>
              </a:defRPr>
            </a:pPr>
            <a:r>
              <a:t>01</a:t>
            </a:r>
          </a:p>
        </p:txBody>
      </p:sp>
      <p:sp>
        <p:nvSpPr>
          <p:cNvPr id="1048753" name="TextBox 9"/>
          <p:cNvSpPr txBox="1"/>
          <p:nvPr/>
        </p:nvSpPr>
        <p:spPr>
          <a:xfrm>
            <a:off x="1417319" y="1691640"/>
            <a:ext cx="4526280" cy="345440"/>
          </a:xfrm>
          <a:prstGeom prst="rect">
            <a:avLst/>
          </a:prstGeom>
          <a:noFill/>
        </p:spPr>
        <p:txBody>
          <a:bodyPr wrap="square" lIns="45720" rIns="45720" anchor="t">
            <a:spAutoFit/>
          </a:bodyPr>
          <a:lstStyle/>
          <a:p>
            <a:pPr>
              <a:defRPr sz="1700" b="1">
                <a:solidFill>
                  <a:srgbClr val="142746"/>
                </a:solidFill>
                <a:latin typeface="Aptos"/>
              </a:defRPr>
            </a:pPr>
            <a:r>
              <a:t>Align tools with objectives</a:t>
            </a:r>
          </a:p>
        </p:txBody>
      </p:sp>
      <p:sp>
        <p:nvSpPr>
          <p:cNvPr id="1048754" name="TextBox 10"/>
          <p:cNvSpPr txBox="1"/>
          <p:nvPr/>
        </p:nvSpPr>
        <p:spPr>
          <a:xfrm>
            <a:off x="1417319" y="2075688"/>
            <a:ext cx="4526280" cy="294640"/>
          </a:xfrm>
          <a:prstGeom prst="rect">
            <a:avLst/>
          </a:prstGeom>
          <a:noFill/>
        </p:spPr>
        <p:txBody>
          <a:bodyPr wrap="square" lIns="45720" rIns="45720" anchor="t">
            <a:spAutoFit/>
          </a:bodyPr>
          <a:lstStyle/>
          <a:p>
            <a:pPr>
              <a:defRPr sz="1400" b="0">
                <a:solidFill>
                  <a:srgbClr val="232D3C"/>
                </a:solidFill>
                <a:latin typeface="Aptos"/>
              </a:defRPr>
            </a:pPr>
            <a:r>
              <a:t>Use technology for a clear instructional purpose.</a:t>
            </a:r>
          </a:p>
        </p:txBody>
      </p:sp>
      <p:sp>
        <p:nvSpPr>
          <p:cNvPr id="1048755" name="TextBox 11"/>
          <p:cNvSpPr txBox="1"/>
          <p:nvPr/>
        </p:nvSpPr>
        <p:spPr>
          <a:xfrm>
            <a:off x="6355079" y="1691640"/>
            <a:ext cx="502920" cy="396240"/>
          </a:xfrm>
          <a:prstGeom prst="rect">
            <a:avLst/>
          </a:prstGeom>
          <a:noFill/>
        </p:spPr>
        <p:txBody>
          <a:bodyPr wrap="square" lIns="45720" rIns="45720" anchor="t">
            <a:spAutoFit/>
          </a:bodyPr>
          <a:lstStyle/>
          <a:p>
            <a:pPr>
              <a:defRPr sz="2000" b="1">
                <a:solidFill>
                  <a:srgbClr val="CAA352"/>
                </a:solidFill>
                <a:latin typeface="Aptos"/>
              </a:defRPr>
            </a:pPr>
            <a:r>
              <a:t>02</a:t>
            </a:r>
          </a:p>
        </p:txBody>
      </p:sp>
      <p:sp>
        <p:nvSpPr>
          <p:cNvPr id="1048756" name="TextBox 12"/>
          <p:cNvSpPr txBox="1"/>
          <p:nvPr/>
        </p:nvSpPr>
        <p:spPr>
          <a:xfrm>
            <a:off x="6995159" y="1691640"/>
            <a:ext cx="4526280" cy="345440"/>
          </a:xfrm>
          <a:prstGeom prst="rect">
            <a:avLst/>
          </a:prstGeom>
          <a:noFill/>
        </p:spPr>
        <p:txBody>
          <a:bodyPr wrap="square" lIns="45720" rIns="45720" anchor="t">
            <a:spAutoFit/>
          </a:bodyPr>
          <a:lstStyle/>
          <a:p>
            <a:pPr>
              <a:defRPr sz="1700" b="1">
                <a:solidFill>
                  <a:srgbClr val="142746"/>
                </a:solidFill>
                <a:latin typeface="Aptos"/>
              </a:defRPr>
            </a:pPr>
            <a:r>
              <a:t>Plan for accessibility</a:t>
            </a:r>
          </a:p>
        </p:txBody>
      </p:sp>
      <p:sp>
        <p:nvSpPr>
          <p:cNvPr id="1048757" name="TextBox 13"/>
          <p:cNvSpPr txBox="1"/>
          <p:nvPr/>
        </p:nvSpPr>
        <p:spPr>
          <a:xfrm>
            <a:off x="6995159" y="2075688"/>
            <a:ext cx="4526280" cy="497840"/>
          </a:xfrm>
          <a:prstGeom prst="rect">
            <a:avLst/>
          </a:prstGeom>
          <a:noFill/>
        </p:spPr>
        <p:txBody>
          <a:bodyPr wrap="square" lIns="45720" rIns="45720" anchor="t">
            <a:spAutoFit/>
          </a:bodyPr>
          <a:lstStyle/>
          <a:p>
            <a:pPr>
              <a:defRPr sz="1400" b="0">
                <a:solidFill>
                  <a:srgbClr val="232D3C"/>
                </a:solidFill>
                <a:latin typeface="Aptos"/>
              </a:defRPr>
            </a:pPr>
            <a:r>
              <a:t>Prepare non-digital alternatives and equitable participation.</a:t>
            </a:r>
          </a:p>
        </p:txBody>
      </p:sp>
      <p:sp>
        <p:nvSpPr>
          <p:cNvPr id="1048758" name="TextBox 14"/>
          <p:cNvSpPr txBox="1"/>
          <p:nvPr/>
        </p:nvSpPr>
        <p:spPr>
          <a:xfrm>
            <a:off x="777240" y="2990088"/>
            <a:ext cx="502920" cy="396240"/>
          </a:xfrm>
          <a:prstGeom prst="rect">
            <a:avLst/>
          </a:prstGeom>
          <a:noFill/>
        </p:spPr>
        <p:txBody>
          <a:bodyPr wrap="square" lIns="45720" rIns="45720" anchor="t">
            <a:spAutoFit/>
          </a:bodyPr>
          <a:lstStyle/>
          <a:p>
            <a:pPr>
              <a:defRPr sz="2000" b="1">
                <a:solidFill>
                  <a:srgbClr val="CAA352"/>
                </a:solidFill>
                <a:latin typeface="Aptos"/>
              </a:defRPr>
            </a:pPr>
            <a:r>
              <a:t>03</a:t>
            </a:r>
          </a:p>
        </p:txBody>
      </p:sp>
      <p:sp>
        <p:nvSpPr>
          <p:cNvPr id="1048759" name="TextBox 15"/>
          <p:cNvSpPr txBox="1"/>
          <p:nvPr/>
        </p:nvSpPr>
        <p:spPr>
          <a:xfrm>
            <a:off x="1417319" y="2990088"/>
            <a:ext cx="4526280" cy="320040"/>
          </a:xfrm>
          <a:prstGeom prst="rect">
            <a:avLst/>
          </a:prstGeom>
          <a:noFill/>
        </p:spPr>
        <p:txBody>
          <a:bodyPr wrap="square" lIns="45720" rIns="45720" anchor="t">
            <a:spAutoFit/>
          </a:bodyPr>
          <a:lstStyle/>
          <a:p>
            <a:pPr>
              <a:defRPr sz="1700" b="1">
                <a:solidFill>
                  <a:srgbClr val="142746"/>
                </a:solidFill>
                <a:latin typeface="Aptos"/>
              </a:defRPr>
            </a:pPr>
            <a:r>
              <a:t>Prioritize reasoning</a:t>
            </a:r>
          </a:p>
        </p:txBody>
      </p:sp>
      <p:sp>
        <p:nvSpPr>
          <p:cNvPr id="1048760" name="TextBox 16"/>
          <p:cNvSpPr txBox="1"/>
          <p:nvPr/>
        </p:nvSpPr>
        <p:spPr>
          <a:xfrm>
            <a:off x="1417319" y="3374136"/>
            <a:ext cx="4526280" cy="294640"/>
          </a:xfrm>
          <a:prstGeom prst="rect">
            <a:avLst/>
          </a:prstGeom>
          <a:noFill/>
        </p:spPr>
        <p:txBody>
          <a:bodyPr wrap="square" lIns="45720" rIns="45720" anchor="t">
            <a:spAutoFit/>
          </a:bodyPr>
          <a:lstStyle/>
          <a:p>
            <a:pPr>
              <a:defRPr sz="1400" b="0">
                <a:solidFill>
                  <a:srgbClr val="232D3C"/>
                </a:solidFill>
                <a:latin typeface="Aptos"/>
              </a:defRPr>
            </a:pPr>
            <a:r>
              <a:t>Ask students to explain and show steps.</a:t>
            </a:r>
          </a:p>
        </p:txBody>
      </p:sp>
      <p:sp>
        <p:nvSpPr>
          <p:cNvPr id="1048761" name="TextBox 17"/>
          <p:cNvSpPr txBox="1"/>
          <p:nvPr/>
        </p:nvSpPr>
        <p:spPr>
          <a:xfrm>
            <a:off x="6355079" y="2990088"/>
            <a:ext cx="502920" cy="396240"/>
          </a:xfrm>
          <a:prstGeom prst="rect">
            <a:avLst/>
          </a:prstGeom>
          <a:noFill/>
        </p:spPr>
        <p:txBody>
          <a:bodyPr wrap="square" lIns="45720" rIns="45720" anchor="t">
            <a:spAutoFit/>
          </a:bodyPr>
          <a:lstStyle/>
          <a:p>
            <a:pPr>
              <a:defRPr sz="2000" b="1">
                <a:solidFill>
                  <a:srgbClr val="CAA352"/>
                </a:solidFill>
                <a:latin typeface="Aptos"/>
              </a:defRPr>
            </a:pPr>
            <a:r>
              <a:t>04</a:t>
            </a:r>
          </a:p>
        </p:txBody>
      </p:sp>
      <p:sp>
        <p:nvSpPr>
          <p:cNvPr id="1048762" name="TextBox 18"/>
          <p:cNvSpPr txBox="1"/>
          <p:nvPr/>
        </p:nvSpPr>
        <p:spPr>
          <a:xfrm>
            <a:off x="6995159" y="2990088"/>
            <a:ext cx="4526280" cy="320040"/>
          </a:xfrm>
          <a:prstGeom prst="rect">
            <a:avLst/>
          </a:prstGeom>
          <a:noFill/>
        </p:spPr>
        <p:txBody>
          <a:bodyPr wrap="square" lIns="45720" rIns="45720" anchor="t">
            <a:spAutoFit/>
          </a:bodyPr>
          <a:lstStyle/>
          <a:p>
            <a:pPr>
              <a:defRPr sz="1700" b="1">
                <a:solidFill>
                  <a:srgbClr val="142746"/>
                </a:solidFill>
                <a:latin typeface="Aptos"/>
              </a:defRPr>
            </a:pPr>
            <a:r>
              <a:t>Evaluate learning</a:t>
            </a:r>
          </a:p>
        </p:txBody>
      </p:sp>
      <p:sp>
        <p:nvSpPr>
          <p:cNvPr id="1048763" name="TextBox 19"/>
          <p:cNvSpPr txBox="1"/>
          <p:nvPr/>
        </p:nvSpPr>
        <p:spPr>
          <a:xfrm>
            <a:off x="6995159" y="3374136"/>
            <a:ext cx="4526280" cy="497840"/>
          </a:xfrm>
          <a:prstGeom prst="rect">
            <a:avLst/>
          </a:prstGeom>
          <a:noFill/>
        </p:spPr>
        <p:txBody>
          <a:bodyPr wrap="square" lIns="45720" rIns="45720" anchor="t">
            <a:spAutoFit/>
          </a:bodyPr>
          <a:lstStyle/>
          <a:p>
            <a:pPr>
              <a:defRPr sz="1400" b="0">
                <a:solidFill>
                  <a:srgbClr val="232D3C"/>
                </a:solidFill>
                <a:latin typeface="Aptos"/>
              </a:defRPr>
            </a:pPr>
            <a:r>
              <a:t>Use assessments, not engagement alone, to judge impact.</a:t>
            </a:r>
          </a:p>
        </p:txBody>
      </p:sp>
      <p:sp>
        <p:nvSpPr>
          <p:cNvPr id="1048764" name="TextBox 20"/>
          <p:cNvSpPr txBox="1"/>
          <p:nvPr/>
        </p:nvSpPr>
        <p:spPr>
          <a:xfrm>
            <a:off x="777240" y="4288536"/>
            <a:ext cx="502920" cy="396240"/>
          </a:xfrm>
          <a:prstGeom prst="rect">
            <a:avLst/>
          </a:prstGeom>
          <a:noFill/>
        </p:spPr>
        <p:txBody>
          <a:bodyPr wrap="square" lIns="45720" rIns="45720" anchor="t">
            <a:spAutoFit/>
          </a:bodyPr>
          <a:lstStyle/>
          <a:p>
            <a:pPr>
              <a:defRPr sz="2000" b="1">
                <a:solidFill>
                  <a:srgbClr val="CAA352"/>
                </a:solidFill>
                <a:latin typeface="Aptos"/>
              </a:defRPr>
            </a:pPr>
            <a:r>
              <a:t>05</a:t>
            </a:r>
          </a:p>
        </p:txBody>
      </p:sp>
      <p:sp>
        <p:nvSpPr>
          <p:cNvPr id="1048765" name="TextBox 21"/>
          <p:cNvSpPr txBox="1"/>
          <p:nvPr/>
        </p:nvSpPr>
        <p:spPr>
          <a:xfrm>
            <a:off x="1417319" y="4288536"/>
            <a:ext cx="4526280" cy="320040"/>
          </a:xfrm>
          <a:prstGeom prst="rect">
            <a:avLst/>
          </a:prstGeom>
          <a:noFill/>
        </p:spPr>
        <p:txBody>
          <a:bodyPr wrap="square" lIns="45720" rIns="45720" anchor="t">
            <a:spAutoFit/>
          </a:bodyPr>
          <a:lstStyle/>
          <a:p>
            <a:pPr>
              <a:defRPr sz="1700" b="1">
                <a:solidFill>
                  <a:srgbClr val="142746"/>
                </a:solidFill>
                <a:latin typeface="Aptos"/>
              </a:defRPr>
            </a:pPr>
            <a:r>
              <a:t>Keep developing</a:t>
            </a:r>
          </a:p>
        </p:txBody>
      </p:sp>
      <p:sp>
        <p:nvSpPr>
          <p:cNvPr id="1048766" name="TextBox 22"/>
          <p:cNvSpPr txBox="1"/>
          <p:nvPr/>
        </p:nvSpPr>
        <p:spPr>
          <a:xfrm>
            <a:off x="1417319" y="4672583"/>
            <a:ext cx="4526280" cy="497841"/>
          </a:xfrm>
          <a:prstGeom prst="rect">
            <a:avLst/>
          </a:prstGeom>
          <a:noFill/>
        </p:spPr>
        <p:txBody>
          <a:bodyPr wrap="square" lIns="45720" rIns="45720" anchor="t">
            <a:spAutoFit/>
          </a:bodyPr>
          <a:lstStyle/>
          <a:p>
            <a:pPr>
              <a:defRPr sz="1400" b="0">
                <a:solidFill>
                  <a:srgbClr val="232D3C"/>
                </a:solidFill>
                <a:latin typeface="Aptos"/>
              </a:defRPr>
            </a:pPr>
            <a:r>
              <a:t>Build confidence with educational tools and adaptable methods.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68"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69"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05 • RECOMMENDATION</a:t>
            </a:r>
          </a:p>
        </p:txBody>
      </p:sp>
      <p:sp>
        <p:nvSpPr>
          <p:cNvPr id="1048770"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Proposed Improvement</a:t>
            </a:r>
          </a:p>
        </p:txBody>
      </p:sp>
      <p:sp>
        <p:nvSpPr>
          <p:cNvPr id="1048771"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72"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10</a:t>
            </a:r>
          </a:p>
        </p:txBody>
      </p:sp>
      <p:sp>
        <p:nvSpPr>
          <p:cNvPr id="1048773"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774" name="TextBox 8"/>
          <p:cNvSpPr txBox="1"/>
          <p:nvPr/>
        </p:nvSpPr>
        <p:spPr>
          <a:xfrm>
            <a:off x="822960" y="1627632"/>
            <a:ext cx="10424160" cy="408940"/>
          </a:xfrm>
          <a:prstGeom prst="rect">
            <a:avLst/>
          </a:prstGeom>
          <a:noFill/>
        </p:spPr>
        <p:txBody>
          <a:bodyPr wrap="square" lIns="45720" rIns="45720" anchor="t">
            <a:spAutoFit/>
          </a:bodyPr>
          <a:lstStyle/>
          <a:p>
            <a:pPr>
              <a:defRPr sz="2200" b="1">
                <a:solidFill>
                  <a:srgbClr val="142746"/>
                </a:solidFill>
                <a:latin typeface="Aptos"/>
              </a:defRPr>
            </a:pPr>
            <a:r>
              <a:t>Introduce a short low-technology warm-up before digital activities.</a:t>
            </a:r>
          </a:p>
        </p:txBody>
      </p:sp>
      <p:sp>
        <p:nvSpPr>
          <p:cNvPr id="1048775" name="Oval 9"/>
          <p:cNvSpPr/>
          <p:nvPr/>
        </p:nvSpPr>
        <p:spPr>
          <a:xfrm>
            <a:off x="1554480" y="2606040"/>
            <a:ext cx="640080" cy="640080"/>
          </a:xfrm>
          <a:prstGeom prst="ellipse">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76" name="TextBox 10"/>
          <p:cNvSpPr txBox="1"/>
          <p:nvPr/>
        </p:nvSpPr>
        <p:spPr>
          <a:xfrm>
            <a:off x="1554480" y="2734056"/>
            <a:ext cx="640080" cy="345439"/>
          </a:xfrm>
          <a:prstGeom prst="rect">
            <a:avLst/>
          </a:prstGeom>
          <a:noFill/>
        </p:spPr>
        <p:txBody>
          <a:bodyPr wrap="square" lIns="45720" rIns="45720" anchor="t">
            <a:spAutoFit/>
          </a:bodyPr>
          <a:lstStyle/>
          <a:p>
            <a:pPr algn="ctr">
              <a:defRPr sz="1700" b="1">
                <a:solidFill>
                  <a:srgbClr val="FFFFFF"/>
                </a:solidFill>
                <a:latin typeface="Aptos"/>
              </a:defRPr>
            </a:pPr>
            <a:r>
              <a:t>1</a:t>
            </a:r>
          </a:p>
        </p:txBody>
      </p:sp>
      <p:sp>
        <p:nvSpPr>
          <p:cNvPr id="1048777" name="TextBox 11"/>
          <p:cNvSpPr txBox="1"/>
          <p:nvPr/>
        </p:nvSpPr>
        <p:spPr>
          <a:xfrm>
            <a:off x="822960" y="3520440"/>
            <a:ext cx="2103120" cy="332741"/>
          </a:xfrm>
          <a:prstGeom prst="rect">
            <a:avLst/>
          </a:prstGeom>
          <a:noFill/>
        </p:spPr>
        <p:txBody>
          <a:bodyPr wrap="square" lIns="45720" rIns="45720" anchor="t">
            <a:spAutoFit/>
          </a:bodyPr>
          <a:lstStyle/>
          <a:p>
            <a:pPr algn="ctr">
              <a:defRPr sz="1600" b="1">
                <a:solidFill>
                  <a:srgbClr val="142746"/>
                </a:solidFill>
                <a:latin typeface="Aptos"/>
              </a:defRPr>
            </a:pPr>
            <a:r>
              <a:t>Start on paper</a:t>
            </a:r>
          </a:p>
        </p:txBody>
      </p:sp>
      <p:sp>
        <p:nvSpPr>
          <p:cNvPr id="1048778" name="TextBox 12"/>
          <p:cNvSpPr txBox="1"/>
          <p:nvPr/>
        </p:nvSpPr>
        <p:spPr>
          <a:xfrm>
            <a:off x="795528" y="3977639"/>
            <a:ext cx="2176272" cy="701040"/>
          </a:xfrm>
          <a:prstGeom prst="rect">
            <a:avLst/>
          </a:prstGeom>
          <a:noFill/>
        </p:spPr>
        <p:txBody>
          <a:bodyPr wrap="square" lIns="45720" rIns="45720" anchor="t">
            <a:spAutoFit/>
          </a:bodyPr>
          <a:lstStyle/>
          <a:p>
            <a:pPr algn="ctr">
              <a:defRPr sz="1400" b="0">
                <a:solidFill>
                  <a:srgbClr val="232D3C"/>
                </a:solidFill>
                <a:latin typeface="Aptos"/>
              </a:defRPr>
            </a:pPr>
            <a:r>
              <a:t>Sketch a graph or solve a basic problem independently.</a:t>
            </a:r>
          </a:p>
        </p:txBody>
      </p:sp>
      <p:sp>
        <p:nvSpPr>
          <p:cNvPr id="1048779" name="Oval 13"/>
          <p:cNvSpPr/>
          <p:nvPr/>
        </p:nvSpPr>
        <p:spPr>
          <a:xfrm>
            <a:off x="4370832" y="2606040"/>
            <a:ext cx="640080" cy="640080"/>
          </a:xfrm>
          <a:prstGeom prst="ellipse">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80" name="TextBox 14"/>
          <p:cNvSpPr txBox="1"/>
          <p:nvPr/>
        </p:nvSpPr>
        <p:spPr>
          <a:xfrm>
            <a:off x="4370832" y="2734056"/>
            <a:ext cx="640080" cy="345439"/>
          </a:xfrm>
          <a:prstGeom prst="rect">
            <a:avLst/>
          </a:prstGeom>
          <a:noFill/>
        </p:spPr>
        <p:txBody>
          <a:bodyPr wrap="square" lIns="45720" rIns="45720" anchor="t">
            <a:spAutoFit/>
          </a:bodyPr>
          <a:lstStyle/>
          <a:p>
            <a:pPr algn="ctr">
              <a:defRPr sz="1700" b="1">
                <a:solidFill>
                  <a:srgbClr val="FFFFFF"/>
                </a:solidFill>
                <a:latin typeface="Aptos"/>
              </a:defRPr>
            </a:pPr>
            <a:r>
              <a:t>2</a:t>
            </a:r>
          </a:p>
        </p:txBody>
      </p:sp>
      <p:sp>
        <p:nvSpPr>
          <p:cNvPr id="1048781" name="TextBox 15"/>
          <p:cNvSpPr txBox="1"/>
          <p:nvPr/>
        </p:nvSpPr>
        <p:spPr>
          <a:xfrm>
            <a:off x="3639312" y="3520440"/>
            <a:ext cx="2103120" cy="332741"/>
          </a:xfrm>
          <a:prstGeom prst="rect">
            <a:avLst/>
          </a:prstGeom>
          <a:noFill/>
        </p:spPr>
        <p:txBody>
          <a:bodyPr wrap="square" lIns="45720" rIns="45720" anchor="t">
            <a:spAutoFit/>
          </a:bodyPr>
          <a:lstStyle/>
          <a:p>
            <a:pPr algn="ctr">
              <a:defRPr sz="1600" b="1">
                <a:solidFill>
                  <a:srgbClr val="142746"/>
                </a:solidFill>
                <a:latin typeface="Aptos"/>
              </a:defRPr>
            </a:pPr>
            <a:r>
              <a:t>Explore digitally</a:t>
            </a:r>
          </a:p>
        </p:txBody>
      </p:sp>
      <p:sp>
        <p:nvSpPr>
          <p:cNvPr id="1048782" name="TextBox 16"/>
          <p:cNvSpPr txBox="1"/>
          <p:nvPr/>
        </p:nvSpPr>
        <p:spPr>
          <a:xfrm>
            <a:off x="3611880" y="3977639"/>
            <a:ext cx="2176272" cy="701040"/>
          </a:xfrm>
          <a:prstGeom prst="rect">
            <a:avLst/>
          </a:prstGeom>
          <a:noFill/>
        </p:spPr>
        <p:txBody>
          <a:bodyPr wrap="square" lIns="45720" rIns="45720" anchor="t">
            <a:spAutoFit/>
          </a:bodyPr>
          <a:lstStyle/>
          <a:p>
            <a:pPr algn="ctr">
              <a:defRPr sz="1400" b="0">
                <a:solidFill>
                  <a:srgbClr val="232D3C"/>
                </a:solidFill>
                <a:latin typeface="Aptos"/>
              </a:defRPr>
            </a:pPr>
            <a:r>
              <a:t>Use Desmos or DeltaMath to test ideas and receive feedback.</a:t>
            </a:r>
          </a:p>
        </p:txBody>
      </p:sp>
      <p:sp>
        <p:nvSpPr>
          <p:cNvPr id="1048783" name="Oval 17"/>
          <p:cNvSpPr/>
          <p:nvPr/>
        </p:nvSpPr>
        <p:spPr>
          <a:xfrm>
            <a:off x="7187183" y="2606040"/>
            <a:ext cx="640080" cy="640080"/>
          </a:xfrm>
          <a:prstGeom prst="ellipse">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84" name="TextBox 18"/>
          <p:cNvSpPr txBox="1"/>
          <p:nvPr/>
        </p:nvSpPr>
        <p:spPr>
          <a:xfrm>
            <a:off x="7187183" y="2734056"/>
            <a:ext cx="640080" cy="345439"/>
          </a:xfrm>
          <a:prstGeom prst="rect">
            <a:avLst/>
          </a:prstGeom>
          <a:noFill/>
        </p:spPr>
        <p:txBody>
          <a:bodyPr wrap="square" lIns="45720" rIns="45720" anchor="t">
            <a:spAutoFit/>
          </a:bodyPr>
          <a:lstStyle/>
          <a:p>
            <a:pPr algn="ctr">
              <a:defRPr sz="1700" b="1">
                <a:solidFill>
                  <a:srgbClr val="FFFFFF"/>
                </a:solidFill>
                <a:latin typeface="Aptos"/>
              </a:defRPr>
            </a:pPr>
            <a:r>
              <a:t>3</a:t>
            </a:r>
          </a:p>
        </p:txBody>
      </p:sp>
      <p:sp>
        <p:nvSpPr>
          <p:cNvPr id="1048785" name="TextBox 19"/>
          <p:cNvSpPr txBox="1"/>
          <p:nvPr/>
        </p:nvSpPr>
        <p:spPr>
          <a:xfrm>
            <a:off x="6455664" y="3520440"/>
            <a:ext cx="2103120" cy="332741"/>
          </a:xfrm>
          <a:prstGeom prst="rect">
            <a:avLst/>
          </a:prstGeom>
          <a:noFill/>
        </p:spPr>
        <p:txBody>
          <a:bodyPr wrap="square" lIns="45720" rIns="45720" anchor="t">
            <a:spAutoFit/>
          </a:bodyPr>
          <a:lstStyle/>
          <a:p>
            <a:pPr algn="ctr">
              <a:defRPr sz="1600" b="1">
                <a:solidFill>
                  <a:srgbClr val="142746"/>
                </a:solidFill>
                <a:latin typeface="Aptos"/>
              </a:defRPr>
            </a:pPr>
            <a:r>
              <a:t>Compare results</a:t>
            </a:r>
          </a:p>
        </p:txBody>
      </p:sp>
      <p:sp>
        <p:nvSpPr>
          <p:cNvPr id="1048786" name="TextBox 20"/>
          <p:cNvSpPr txBox="1"/>
          <p:nvPr/>
        </p:nvSpPr>
        <p:spPr>
          <a:xfrm>
            <a:off x="6428231" y="3977639"/>
            <a:ext cx="2176272" cy="701040"/>
          </a:xfrm>
          <a:prstGeom prst="rect">
            <a:avLst/>
          </a:prstGeom>
          <a:noFill/>
        </p:spPr>
        <p:txBody>
          <a:bodyPr wrap="square" lIns="45720" rIns="45720" anchor="t">
            <a:spAutoFit/>
          </a:bodyPr>
          <a:lstStyle/>
          <a:p>
            <a:pPr algn="ctr">
              <a:defRPr sz="1400" b="0">
                <a:solidFill>
                  <a:srgbClr val="232D3C"/>
                </a:solidFill>
                <a:latin typeface="Aptos"/>
              </a:defRPr>
            </a:pPr>
            <a:r>
              <a:t>Identify similarities, differences, and possible errors.</a:t>
            </a:r>
          </a:p>
        </p:txBody>
      </p:sp>
      <p:sp>
        <p:nvSpPr>
          <p:cNvPr id="1048787" name="Oval 21"/>
          <p:cNvSpPr/>
          <p:nvPr/>
        </p:nvSpPr>
        <p:spPr>
          <a:xfrm>
            <a:off x="10003536" y="2606040"/>
            <a:ext cx="640080" cy="640080"/>
          </a:xfrm>
          <a:prstGeom prst="ellipse">
            <a:avLst/>
          </a:prstGeom>
          <a:solidFill>
            <a:srgbClr val="27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88" name="TextBox 22"/>
          <p:cNvSpPr txBox="1"/>
          <p:nvPr/>
        </p:nvSpPr>
        <p:spPr>
          <a:xfrm>
            <a:off x="10003536" y="2734056"/>
            <a:ext cx="640080" cy="345439"/>
          </a:xfrm>
          <a:prstGeom prst="rect">
            <a:avLst/>
          </a:prstGeom>
          <a:noFill/>
        </p:spPr>
        <p:txBody>
          <a:bodyPr wrap="square" lIns="45720" rIns="45720" anchor="t">
            <a:spAutoFit/>
          </a:bodyPr>
          <a:lstStyle/>
          <a:p>
            <a:pPr algn="ctr">
              <a:defRPr sz="1700" b="1">
                <a:solidFill>
                  <a:srgbClr val="FFFFFF"/>
                </a:solidFill>
                <a:latin typeface="Aptos"/>
              </a:defRPr>
            </a:pPr>
            <a:r>
              <a:t>4</a:t>
            </a:r>
          </a:p>
        </p:txBody>
      </p:sp>
      <p:sp>
        <p:nvSpPr>
          <p:cNvPr id="1048789" name="TextBox 23"/>
          <p:cNvSpPr txBox="1"/>
          <p:nvPr/>
        </p:nvSpPr>
        <p:spPr>
          <a:xfrm>
            <a:off x="9272016" y="3520440"/>
            <a:ext cx="2103120" cy="332741"/>
          </a:xfrm>
          <a:prstGeom prst="rect">
            <a:avLst/>
          </a:prstGeom>
          <a:noFill/>
        </p:spPr>
        <p:txBody>
          <a:bodyPr wrap="square" lIns="45720" rIns="45720" anchor="t">
            <a:spAutoFit/>
          </a:bodyPr>
          <a:lstStyle/>
          <a:p>
            <a:pPr algn="ctr">
              <a:defRPr sz="1600" b="1">
                <a:solidFill>
                  <a:srgbClr val="142746"/>
                </a:solidFill>
                <a:latin typeface="Aptos"/>
              </a:defRPr>
            </a:pPr>
            <a:r>
              <a:t>Explain reasoning</a:t>
            </a:r>
          </a:p>
        </p:txBody>
      </p:sp>
      <p:sp>
        <p:nvSpPr>
          <p:cNvPr id="1048790" name="TextBox 24"/>
          <p:cNvSpPr txBox="1"/>
          <p:nvPr/>
        </p:nvSpPr>
        <p:spPr>
          <a:xfrm>
            <a:off x="9244584" y="3977639"/>
            <a:ext cx="2176272" cy="701040"/>
          </a:xfrm>
          <a:prstGeom prst="rect">
            <a:avLst/>
          </a:prstGeom>
          <a:noFill/>
        </p:spPr>
        <p:txBody>
          <a:bodyPr wrap="square" lIns="45720" rIns="45720" anchor="t">
            <a:spAutoFit/>
          </a:bodyPr>
          <a:lstStyle/>
          <a:p>
            <a:pPr algn="ctr">
              <a:defRPr sz="1400" b="0">
                <a:solidFill>
                  <a:srgbClr val="232D3C"/>
                </a:solidFill>
                <a:latin typeface="Aptos"/>
              </a:defRPr>
            </a:pPr>
            <a:r>
              <a:t>Ask students to justify answers without relying only on the tool.</a:t>
            </a:r>
          </a:p>
        </p:txBody>
      </p:sp>
      <p:sp>
        <p:nvSpPr>
          <p:cNvPr id="1048791" name="TextBox 25"/>
          <p:cNvSpPr txBox="1"/>
          <p:nvPr/>
        </p:nvSpPr>
        <p:spPr>
          <a:xfrm>
            <a:off x="822960" y="5440680"/>
            <a:ext cx="10515600" cy="548641"/>
          </a:xfrm>
          <a:prstGeom prst="rect">
            <a:avLst/>
          </a:prstGeom>
          <a:noFill/>
        </p:spPr>
        <p:txBody>
          <a:bodyPr wrap="square" lIns="45720" rIns="45720" anchor="t">
            <a:spAutoFit/>
          </a:bodyPr>
          <a:lstStyle/>
          <a:p>
            <a:pPr algn="ctr">
              <a:defRPr sz="1500" b="1">
                <a:solidFill>
                  <a:srgbClr val="274B7D"/>
                </a:solidFill>
                <a:latin typeface="Aptos"/>
              </a:defRPr>
            </a:pPr>
            <a:r>
              <a:t>Expected benefits: activate prior knowledge • strengthen conceptual understanding • reduce dependence on digital output • support limited-access learners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93" name="Rectangle 2"/>
          <p:cNvSpPr/>
          <p:nvPr/>
        </p:nvSpPr>
        <p:spPr>
          <a:xfrm>
            <a:off x="0" y="0"/>
            <a:ext cx="146304" cy="685800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94" name="TextBox 3"/>
          <p:cNvSpPr txBox="1"/>
          <p:nvPr/>
        </p:nvSpPr>
        <p:spPr>
          <a:xfrm>
            <a:off x="594360" y="347472"/>
            <a:ext cx="5029200" cy="228600"/>
          </a:xfrm>
          <a:prstGeom prst="rect">
            <a:avLst/>
          </a:prstGeom>
          <a:noFill/>
        </p:spPr>
        <p:txBody>
          <a:bodyPr wrap="square" lIns="45720" rIns="45720" anchor="t">
            <a:spAutoFit/>
          </a:bodyPr>
          <a:lstStyle/>
          <a:p>
            <a:pPr>
              <a:defRPr sz="1000" b="1">
                <a:solidFill>
                  <a:srgbClr val="274B7D"/>
                </a:solidFill>
                <a:latin typeface="Aptos"/>
              </a:defRPr>
            </a:pPr>
            <a:r>
              <a:t>06 • TEAM LEARNING</a:t>
            </a:r>
          </a:p>
        </p:txBody>
      </p:sp>
      <p:sp>
        <p:nvSpPr>
          <p:cNvPr id="1048795" name="TextBox 4"/>
          <p:cNvSpPr txBox="1"/>
          <p:nvPr/>
        </p:nvSpPr>
        <p:spPr>
          <a:xfrm>
            <a:off x="594360" y="658368"/>
            <a:ext cx="10972800" cy="497840"/>
          </a:xfrm>
          <a:prstGeom prst="rect">
            <a:avLst/>
          </a:prstGeom>
          <a:noFill/>
        </p:spPr>
        <p:txBody>
          <a:bodyPr wrap="square" lIns="45720" rIns="45720" anchor="t">
            <a:spAutoFit/>
          </a:bodyPr>
          <a:lstStyle/>
          <a:p>
            <a:pPr>
              <a:defRPr sz="2700" b="1">
                <a:solidFill>
                  <a:srgbClr val="142746"/>
                </a:solidFill>
                <a:latin typeface="Aptos"/>
              </a:defRPr>
            </a:pPr>
            <a:r>
              <a:t>Personal Reflection</a:t>
            </a:r>
          </a:p>
        </p:txBody>
      </p:sp>
      <p:sp>
        <p:nvSpPr>
          <p:cNvPr id="1048796" name="Rectangle 5"/>
          <p:cNvSpPr/>
          <p:nvPr/>
        </p:nvSpPr>
        <p:spPr>
          <a:xfrm>
            <a:off x="621792" y="1353312"/>
            <a:ext cx="10927080" cy="22860"/>
          </a:xfrm>
          <a:prstGeom prst="rect">
            <a:avLst/>
          </a:prstGeom>
          <a:solidFill>
            <a:srgbClr val="CAA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797" name="TextBox 6"/>
          <p:cNvSpPr txBox="1"/>
          <p:nvPr/>
        </p:nvSpPr>
        <p:spPr>
          <a:xfrm>
            <a:off x="11155680" y="6446520"/>
            <a:ext cx="457200" cy="231140"/>
          </a:xfrm>
          <a:prstGeom prst="rect">
            <a:avLst/>
          </a:prstGeom>
          <a:noFill/>
        </p:spPr>
        <p:txBody>
          <a:bodyPr wrap="square" lIns="45720" rIns="45720" anchor="t">
            <a:spAutoFit/>
          </a:bodyPr>
          <a:lstStyle/>
          <a:p>
            <a:pPr algn="r">
              <a:defRPr sz="1000" b="1">
                <a:solidFill>
                  <a:srgbClr val="5F6B7B"/>
                </a:solidFill>
                <a:latin typeface="Aptos"/>
              </a:defRPr>
            </a:pPr>
            <a:r>
              <a:t>11</a:t>
            </a:r>
          </a:p>
        </p:txBody>
      </p:sp>
      <p:sp>
        <p:nvSpPr>
          <p:cNvPr id="1048798" name="TextBox 7"/>
          <p:cNvSpPr txBox="1"/>
          <p:nvPr/>
        </p:nvSpPr>
        <p:spPr>
          <a:xfrm>
            <a:off x="621792" y="6446520"/>
            <a:ext cx="7772400" cy="201168"/>
          </a:xfrm>
          <a:prstGeom prst="rect">
            <a:avLst/>
          </a:prstGeom>
          <a:noFill/>
        </p:spPr>
        <p:txBody>
          <a:bodyPr wrap="square" lIns="45720" rIns="45720" anchor="t">
            <a:spAutoFit/>
          </a:bodyPr>
          <a:lstStyle/>
          <a:p>
            <a:pPr>
              <a:defRPr sz="900" b="0">
                <a:solidFill>
                  <a:srgbClr val="5F6B7B"/>
                </a:solidFill>
                <a:latin typeface="Aptos"/>
              </a:defRPr>
            </a:pPr>
            <a:r>
              <a:t>TECHNOLOGY INTEGRATION IN MATHEMATICS EDUCATION</a:t>
            </a:r>
          </a:p>
        </p:txBody>
      </p:sp>
      <p:sp>
        <p:nvSpPr>
          <p:cNvPr id="1048799" name="TextBox 8"/>
          <p:cNvSpPr txBox="1"/>
          <p:nvPr/>
        </p:nvSpPr>
        <p:spPr>
          <a:xfrm>
            <a:off x="822960" y="1664208"/>
            <a:ext cx="10424160" cy="701039"/>
          </a:xfrm>
          <a:prstGeom prst="rect">
            <a:avLst/>
          </a:prstGeom>
          <a:noFill/>
        </p:spPr>
        <p:txBody>
          <a:bodyPr wrap="square" lIns="45720" rIns="45720" anchor="t">
            <a:spAutoFit/>
          </a:bodyPr>
          <a:lstStyle/>
          <a:p>
            <a:pPr>
              <a:defRPr sz="2100" b="1">
                <a:solidFill>
                  <a:srgbClr val="142746"/>
                </a:solidFill>
                <a:latin typeface="Aptos"/>
              </a:defRPr>
            </a:pPr>
            <a:r>
              <a:t>Our team learned that effective technology integration is purposeful, inclusive, and evidence-based.</a:t>
            </a:r>
          </a:p>
        </p:txBody>
      </p:sp>
      <p:sp>
        <p:nvSpPr>
          <p:cNvPr id="1048800" name="TextBox 9"/>
          <p:cNvSpPr txBox="1"/>
          <p:nvPr/>
        </p:nvSpPr>
        <p:spPr>
          <a:xfrm>
            <a:off x="868680" y="2514600"/>
            <a:ext cx="10241280" cy="2197609"/>
          </a:xfrm>
          <a:prstGeom prst="rect">
            <a:avLst/>
          </a:prstGeom>
          <a:noFill/>
        </p:spPr>
        <p:txBody>
          <a:bodyPr wrap="square" lIns="45720" tIns="36576" rIns="54864" bIns="27432">
            <a:spAutoFit/>
          </a:bodyPr>
          <a:lstStyle/>
          <a:p>
            <a:pPr>
              <a:spcAft>
                <a:spcPts val="1200"/>
              </a:spcAft>
            </a:pPr>
            <a:r>
              <a:rPr sz="1700" b="1">
                <a:solidFill>
                  <a:srgbClr val="232D3C"/>
                </a:solidFill>
                <a:latin typeface="Aptos"/>
              </a:rPr>
              <a:t>• Purposeful planning: </a:t>
            </a:r>
            <a:r>
              <a:rPr sz="1700">
                <a:solidFill>
                  <a:srgbClr val="232D3C"/>
                </a:solidFill>
                <a:latin typeface="Aptos"/>
              </a:rPr>
              <a:t>Digital tools should support specific learning objectives.</a:t>
            </a:r>
          </a:p>
          <a:p>
            <a:pPr>
              <a:spcAft>
                <a:spcPts val="1200"/>
              </a:spcAft>
            </a:pPr>
            <a:r>
              <a:rPr sz="1700" b="1">
                <a:solidFill>
                  <a:srgbClr val="232D3C"/>
                </a:solidFill>
                <a:latin typeface="Aptos"/>
              </a:rPr>
              <a:t>• Equity and flexibility: </a:t>
            </a:r>
            <a:r>
              <a:rPr sz="1700">
                <a:solidFill>
                  <a:srgbClr val="232D3C"/>
                </a:solidFill>
                <a:latin typeface="Aptos"/>
              </a:rPr>
              <a:t>Teachers must consider students’ access to devices, internet, and electricity.</a:t>
            </a:r>
          </a:p>
          <a:p>
            <a:pPr>
              <a:spcAft>
                <a:spcPts val="1200"/>
              </a:spcAft>
            </a:pPr>
            <a:r>
              <a:rPr sz="1700" b="1">
                <a:solidFill>
                  <a:srgbClr val="232D3C"/>
                </a:solidFill>
                <a:latin typeface="Aptos"/>
              </a:rPr>
              <a:t>• Conceptual understanding: </a:t>
            </a:r>
            <a:r>
              <a:rPr sz="1700">
                <a:solidFill>
                  <a:srgbClr val="232D3C"/>
                </a:solidFill>
                <a:latin typeface="Aptos"/>
              </a:rPr>
              <a:t>Students still need to explain mathematical processes and reasoning.</a:t>
            </a:r>
          </a:p>
          <a:p>
            <a:pPr>
              <a:spcAft>
                <a:spcPts val="1200"/>
              </a:spcAft>
            </a:pPr>
            <a:r>
              <a:rPr sz="1700" b="1">
                <a:solidFill>
                  <a:srgbClr val="232D3C"/>
                </a:solidFill>
                <a:latin typeface="Aptos"/>
              </a:rPr>
              <a:t>• Evidence of learning: </a:t>
            </a:r>
            <a:r>
              <a:rPr sz="1700">
                <a:solidFill>
                  <a:srgbClr val="232D3C"/>
                </a:solidFill>
                <a:latin typeface="Aptos"/>
              </a:rPr>
              <a:t>Assessment should establish whether students can solve problems independently.</a:t>
            </a:r>
          </a:p>
          <a:p>
            <a:pPr>
              <a:spcAft>
                <a:spcPts val="1200"/>
              </a:spcAft>
            </a:pPr>
            <a:r>
              <a:rPr sz="1700" b="1">
                <a:solidFill>
                  <a:srgbClr val="232D3C"/>
                </a:solidFill>
                <a:latin typeface="Aptos"/>
              </a:rPr>
              <a:t>• Professional growth: </a:t>
            </a:r>
            <a:r>
              <a:rPr sz="1700">
                <a:solidFill>
                  <a:srgbClr val="232D3C"/>
                </a:solidFill>
                <a:latin typeface="Aptos"/>
              </a:rPr>
              <a:t>Future teachers should keep developing their technology skills and alternative strategies.</a:t>
            </a:r>
          </a:p>
        </p:txBody>
      </p:sp>
      <p:sp>
        <p:nvSpPr>
          <p:cNvPr id="1048801" name="TextBox 10"/>
          <p:cNvSpPr txBox="1"/>
          <p:nvPr/>
        </p:nvSpPr>
        <p:spPr>
          <a:xfrm>
            <a:off x="868680" y="5760720"/>
            <a:ext cx="10241280" cy="332741"/>
          </a:xfrm>
          <a:prstGeom prst="rect">
            <a:avLst/>
          </a:prstGeom>
          <a:noFill/>
        </p:spPr>
        <p:txBody>
          <a:bodyPr wrap="square" lIns="45720" rIns="45720" anchor="t">
            <a:spAutoFit/>
          </a:bodyPr>
          <a:lstStyle/>
          <a:p>
            <a:pPr algn="ctr">
              <a:defRPr sz="1600" b="1">
                <a:solidFill>
                  <a:srgbClr val="274B7D"/>
                </a:solidFill>
                <a:latin typeface="Aptos"/>
              </a:defRPr>
            </a:pPr>
            <a:r>
              <a:t>Technology is most meaningful when it enhances learning rather than merely completing classroom activities.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Rectangle 1"/>
          <p:cNvSpPr/>
          <p:nvPr/>
        </p:nvSpPr>
        <p:spPr>
          <a:xfrm>
            <a:off x="0" y="0"/>
            <a:ext cx="12191695" cy="6858000"/>
          </a:xfrm>
          <a:prstGeom prst="rect">
            <a:avLst/>
          </a:prstGeom>
          <a:solidFill>
            <a:srgbClr val="14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45733" name="Connector 2"/>
          <p:cNvCxnSpPr>
            <a:cxnSpLocks/>
          </p:cNvCxnSpPr>
          <p:nvPr/>
        </p:nvCxnSpPr>
        <p:spPr>
          <a:xfrm>
            <a:off x="7498079" y="914400"/>
            <a:ext cx="822961"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cxnSp>
        <p:nvCxnSpPr>
          <p:cNvPr id="3145734" name="Connector 3"/>
          <p:cNvCxnSpPr>
            <a:cxnSpLocks/>
          </p:cNvCxnSpPr>
          <p:nvPr/>
        </p:nvCxnSpPr>
        <p:spPr>
          <a:xfrm>
            <a:off x="8001000" y="914400"/>
            <a:ext cx="822960"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cxnSp>
        <p:nvCxnSpPr>
          <p:cNvPr id="3145735" name="Connector 4"/>
          <p:cNvCxnSpPr>
            <a:cxnSpLocks/>
          </p:cNvCxnSpPr>
          <p:nvPr/>
        </p:nvCxnSpPr>
        <p:spPr>
          <a:xfrm>
            <a:off x="8503919" y="914400"/>
            <a:ext cx="822961"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cxnSp>
        <p:nvCxnSpPr>
          <p:cNvPr id="3145736" name="Connector 5"/>
          <p:cNvCxnSpPr>
            <a:cxnSpLocks/>
          </p:cNvCxnSpPr>
          <p:nvPr/>
        </p:nvCxnSpPr>
        <p:spPr>
          <a:xfrm>
            <a:off x="9006840" y="914400"/>
            <a:ext cx="822960"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cxnSp>
        <p:nvCxnSpPr>
          <p:cNvPr id="3145737" name="Connector 6"/>
          <p:cNvCxnSpPr>
            <a:cxnSpLocks/>
          </p:cNvCxnSpPr>
          <p:nvPr/>
        </p:nvCxnSpPr>
        <p:spPr>
          <a:xfrm>
            <a:off x="9509759" y="914400"/>
            <a:ext cx="822961"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cxnSp>
        <p:nvCxnSpPr>
          <p:cNvPr id="3145738" name="Connector 7"/>
          <p:cNvCxnSpPr>
            <a:cxnSpLocks/>
          </p:cNvCxnSpPr>
          <p:nvPr/>
        </p:nvCxnSpPr>
        <p:spPr>
          <a:xfrm>
            <a:off x="10012680" y="914400"/>
            <a:ext cx="822960" cy="4297680"/>
          </a:xfrm>
          <a:prstGeom prst="line">
            <a:avLst/>
          </a:prstGeom>
          <a:ln w="15240">
            <a:solidFill>
              <a:srgbClr val="4B658E"/>
            </a:solidFill>
          </a:ln>
        </p:spPr>
        <p:style>
          <a:lnRef idx="2">
            <a:schemeClr val="accent1"/>
          </a:lnRef>
          <a:fillRef idx="0">
            <a:schemeClr val="accent1"/>
          </a:fillRef>
          <a:effectRef idx="1">
            <a:schemeClr val="accent1"/>
          </a:effectRef>
          <a:fontRef idx="minor">
            <a:schemeClr val="tx1"/>
          </a:fontRef>
        </p:style>
      </p:cxnSp>
      <p:sp>
        <p:nvSpPr>
          <p:cNvPr id="1048803" name="TextBox 8"/>
          <p:cNvSpPr txBox="1"/>
          <p:nvPr/>
        </p:nvSpPr>
        <p:spPr>
          <a:xfrm>
            <a:off x="868680" y="1051560"/>
            <a:ext cx="2743200" cy="281941"/>
          </a:xfrm>
          <a:prstGeom prst="rect">
            <a:avLst/>
          </a:prstGeom>
          <a:noFill/>
        </p:spPr>
        <p:txBody>
          <a:bodyPr wrap="square" lIns="45720" rIns="45720" anchor="t">
            <a:spAutoFit/>
          </a:bodyPr>
          <a:lstStyle/>
          <a:p>
            <a:pPr>
              <a:defRPr sz="1300" b="1">
                <a:solidFill>
                  <a:srgbClr val="CAA352"/>
                </a:solidFill>
                <a:latin typeface="Aptos"/>
              </a:defRPr>
            </a:pPr>
            <a:r>
              <a:t>CONCLUSION</a:t>
            </a:r>
          </a:p>
        </p:txBody>
      </p:sp>
      <p:sp>
        <p:nvSpPr>
          <p:cNvPr id="1048804" name="TextBox 9"/>
          <p:cNvSpPr txBox="1"/>
          <p:nvPr/>
        </p:nvSpPr>
        <p:spPr>
          <a:xfrm>
            <a:off x="868680" y="1645920"/>
            <a:ext cx="8138160" cy="1056641"/>
          </a:xfrm>
          <a:prstGeom prst="rect">
            <a:avLst/>
          </a:prstGeom>
          <a:noFill/>
        </p:spPr>
        <p:txBody>
          <a:bodyPr wrap="square" lIns="45720" rIns="45720" anchor="t">
            <a:spAutoFit/>
          </a:bodyPr>
          <a:lstStyle/>
          <a:p>
            <a:pPr>
              <a:defRPr sz="3200" b="1">
                <a:solidFill>
                  <a:srgbClr val="FFFFFF"/>
                </a:solidFill>
                <a:latin typeface="Aptos"/>
              </a:defRPr>
            </a:pPr>
            <a:r>
              <a:t>Technology should support</a:t>
            </a:r>
            <a:br/>
            <a:r>
              <a:t>mathematical thinking.</a:t>
            </a:r>
          </a:p>
        </p:txBody>
      </p:sp>
      <p:sp>
        <p:nvSpPr>
          <p:cNvPr id="1048805" name="TextBox 10"/>
          <p:cNvSpPr txBox="1"/>
          <p:nvPr/>
        </p:nvSpPr>
        <p:spPr>
          <a:xfrm>
            <a:off x="914400" y="3429000"/>
            <a:ext cx="7589520" cy="891540"/>
          </a:xfrm>
          <a:prstGeom prst="rect">
            <a:avLst/>
          </a:prstGeom>
          <a:noFill/>
        </p:spPr>
        <p:txBody>
          <a:bodyPr wrap="square" lIns="45720" rIns="45720" anchor="t">
            <a:spAutoFit/>
          </a:bodyPr>
          <a:lstStyle/>
          <a:p>
            <a:pPr>
              <a:defRPr sz="1800" b="0">
                <a:solidFill>
                  <a:srgbClr val="DCE4EF"/>
                </a:solidFill>
                <a:latin typeface="Aptos"/>
              </a:defRPr>
            </a:pPr>
            <a:r>
              <a:t>When aligned with learning goals and supported by teacher guidance, digital tools can strengthen visualization, feedback, and independent practice. Accessibility and conceptual understanding must remain central.</a:t>
            </a:r>
          </a:p>
        </p:txBody>
      </p:sp>
      <p:sp>
        <p:nvSpPr>
          <p:cNvPr id="1048806" name="TextBox 11"/>
          <p:cNvSpPr txBox="1"/>
          <p:nvPr/>
        </p:nvSpPr>
        <p:spPr>
          <a:xfrm>
            <a:off x="914400" y="5486400"/>
            <a:ext cx="2743200" cy="396240"/>
          </a:xfrm>
          <a:prstGeom prst="rect">
            <a:avLst/>
          </a:prstGeom>
          <a:noFill/>
        </p:spPr>
        <p:txBody>
          <a:bodyPr wrap="square" lIns="45720" rIns="45720" anchor="t">
            <a:spAutoFit/>
          </a:bodyPr>
          <a:lstStyle/>
          <a:p>
            <a:pPr>
              <a:defRPr sz="2000" b="1">
                <a:solidFill>
                  <a:srgbClr val="CAA352"/>
                </a:solidFill>
                <a:latin typeface="Aptos"/>
              </a:defRPr>
            </a:pPr>
            <a:r>
              <a:t>THANK YOU</a:t>
            </a:r>
          </a:p>
        </p:txBody>
      </p:sp>
      <p:sp>
        <p:nvSpPr>
          <p:cNvPr id="1048807" name="TextBox 12"/>
          <p:cNvSpPr txBox="1"/>
          <p:nvPr/>
        </p:nvSpPr>
        <p:spPr>
          <a:xfrm>
            <a:off x="11064240" y="6446520"/>
            <a:ext cx="457200" cy="231140"/>
          </a:xfrm>
          <a:prstGeom prst="rect">
            <a:avLst/>
          </a:prstGeom>
          <a:noFill/>
        </p:spPr>
        <p:txBody>
          <a:bodyPr wrap="square" lIns="45720" rIns="45720" anchor="t">
            <a:spAutoFit/>
          </a:bodyPr>
          <a:lstStyle/>
          <a:p>
            <a:pPr algn="r">
              <a:defRPr sz="1000" b="1">
                <a:solidFill>
                  <a:srgbClr val="DCE4EF"/>
                </a:solidFill>
                <a:latin typeface="Aptos"/>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946</Words>
  <Application>Microsoft Office PowerPoint</Application>
  <PresentationFormat>Widescreen</PresentationFormat>
  <Paragraphs>149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TECNO KM4</dc:creator>
  <cp:lastModifiedBy>ginadaugdaug86@gmail.com</cp:lastModifiedBy>
  <cp:revision>1</cp:revision>
  <dcterms:created xsi:type="dcterms:W3CDTF">2013-01-26T17:14:16Z</dcterms:created>
  <dcterms:modified xsi:type="dcterms:W3CDTF">2026-10-24T05:23:28Z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95bfb0688e3946aaaaa6f0eb78b31071_23</vt:lpwstr>
  </property>
</Properties>
</file>